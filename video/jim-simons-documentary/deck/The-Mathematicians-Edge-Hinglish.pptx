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Namaste! Aaj hum samjhenge Jim Simons ka trading approach — ek mathematician ne markets ko math aur data se kaise dekha. Is presentation ke har slide ke notes mein video ki Hinglish script hai, video timecode ke saath.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00:00 · Scene S01]
66 percent. Yeh lagbhag woh average annual return hai, jo Jim Simons ke Medallion Fund ne reportedly fees se pehle generate kiya — aur woh bhi 30 saal se zyada tak.
[Video 00:15 · Scene S02]
Aur yeh kisi gut feeling, market stories, ya kisi star trader ke instinct se nahi aaya. Yeh aaya mathematics, data aur scientific discipline 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00:30 · Scene S03]
Is video mein hum dekhenge ki Simons ne markets ko kaise approach kiya, unki edge ke peeche asli wajah kya thi — aur sabse important, unke kaunse principles ek retail trader realistically use kar sakta hai. Aur kaunse nahi.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slide par Jim Simons ki licensed photo lagayein (photo slot).
[Video 00:55 · Scene S05]
1982 mein, Jim Simons ne Renaissance Technologies ki foundation rakhi. Simons ek mathematician aur former signals analyst the — aur market ko dekhne ka unka nazariya traditional traders se bilkul alag tha.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01:16 · Scene S06]
Unka core idea kehne mein simple tha, lekin execute karna mushkil: financial market ke data mein persistent aur predictable patterns ho sakte hain. Agar right people, right data aur right technology ko combine kiya jaye — to in patterns ko identify karke systematically trade kiya ja sakta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01:40 · Scene S07]
Isliye Renaissance ne apna approach traditional, qualitative market analysis par build nahi kiya. Unhone use build kiya statistical pattern recognition par. Firm mein mathematicians, physicists aur computer scientists kaam karte the — aise log jo maante the ki markets ko ek mathematical system ki tarah study kiya ja sakta hai, jahan scientific discipline hidden patterns ko saamne la sakta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02:12 · Scene S08]
Lekin yahan ek baat hai, jo zyada log miss kar dete hain: Renaissance ki performance sirf models ki wajah se nahi thi. Kai factors ek saath kaam kar rahe the — execution quality, scientific discipline, data analysis, continuous research, aur scientists ki hiring. Chaliye, inme se chaar ko break down karte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02:37 · Scene S09]
Pehla: statistical pattern recognition. Team price, volume, order flow aur doosre market data ko process karti thi. Goal tha aise signals dhoondhna, jo statistically significant hon, time ke saath repeat hote hon — aur trading costs ke baad bhi useful rahen.
[Video 02:59 · Scene S10]
Doosra: doosri sciences se seekhna. Kuch mathematical techniques finance ke bahar ke fields — jaise physics aur signal processing — se adapt ki gayi thi. Hidden Markov Models jaise techniques ka use reportedly financial pattern recognition mein kiya gaya. Logic simple tha: agar koi technique doosre complex systems mein kaam karti hai, to test karo ki kya woh markets mein bhi kaam karti hai.
[Video 03:31 · Scene S11]
Teesra: speed, consistency aur scale. Sirf ek profitable signal dhoondh lena kaafi nahi hai. Use quickly, consistently aur large scale par execute karna padta hai. Aur khaas baat — Renaissance ne Medallion Fund ki capacity ko intentionally limited rakha, taaki unke large orders market prices ko zyada affect na karein.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03:56 · Scene S12]
Chautha: model discipline. Koi signal tabhi trade kiya jata tha, jab uske support mein statistically significant evidence ho. Agar signal kaam karna band kar de, to use hata diya jata tha. Aur yeh process kabhi rukta nahi tha: research, test, live trade, monitor — phir improve, ya remove.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04:19 · Scene S13]
Ab, ek reality check. Ek retail trader Medallion Fund ki performance ko replicate nahi kar sakta. Uske models proprietary hain, aur publicly available nahi hain. Renaissance ke paas technology thi, scale tha, aur highly skilled researchers the. Isliye Simons ke principles ko ek learning framework ki tarah dekho — copy karne wali trading strategy ki tarah nahi.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04:51 · Scene S14]
To aap actually kya apply kar sakte ho? Principle one: discretionary judgement ke bajay systematic rules. Apni entry, exit, stop loss aur position size pehle se define karo. Measurable conditions se overconfidence, hesitation aur confirmation bias jaise behavioural mistakes kam ho sakte hain.
[Video 05:18 · Scene S15]
Principle two: narrative se upar data aur evidence ko rakho. Apni strategy ko historical data par backtest karo. Samjho ki woh kahan perform karti hai, kahan fail hoti hai, uska historical drawdown kya raha, win rate kya raha, aur average risk-to-reward kya raha. Backtest future profit ki guarantee nahi deta — lekin yeh samajhne ka baseline zaroor deta hai ki strategy ne ab tak kaise behave kiya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05:51 · Scene S16]
Principle three: risk management non-negotiable hai. Position sizing consistent rakho. Har trade par maximum loss define karo. Daily aur weekly maximum loss bhi define karo. Aur sirf isliye risk mat badhao, kyunki aap winning streak par ho. Goal yeh hai: koi ek trade — ya trades ka sequence — aapke account ko seriously damage na kare.
[Video 06:22 · Scene S17]
Principle four: markets aur signals mein diversify karo. Medallion ne reportedly hundreds of instruments mein trade kiya — equities, bonds, currencies, commodities aur derivatives. Retail level par iska broad lesson yeh hai: kisi ek instrument ya ek strategy par poori tarah dependent mat raho. Less-correlated markets mein diversify karne se, kisi ek edge par aapki dependence kam ho sakti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06:56 · Scene S18]
Quantitative strategies kuch broad types ki hoti hain. Statistical arbitrage mein historically related assets ke price relationship ko study kiya jata hai. Agar yeh relationship temporarily kisi unusual level tak widen ho jaye, to strategy test karti hai ki kya spread wapas apni normal range ki taraf revert karega.
[Video 07:22 · Scene S19]
Momentum aur trend following ka idea hai — is possibility ko systematically capture karna, ki recent strength aage bhi continue ho sakti hai. Jaise rules: uptrend mein long, aur downtrend mein short.
[Video 07:40 · Scene S20]
Mean reversion mein yeh idea test kiya jata hai ki price apne average ya equilibrium level ki taraf wapas aa sakta hai. Short-term trading mein yeh relevant ho sakta hai — lekin challenge yeh pehchanna hai ki yeh temporary overextension hai, ya ek new trend ki shuruaat.
[Video 08:01 · Scene S21]
Aur factor-based models value, momentum, quality aur low volatility jaise characteristics ko analyse karte hain. Kisi ek stock ki direction predict karne ke bajay, portfolio ko specific factor exposures ki taraf tilt kiya jata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yeh example rule source guide ka hai — koi result claim nahi kiya gaya.
[Video 08:21 · Scene S22]
Achhi khabar yeh hai: quantitative approach ke liye Renaissance-level mathematics ki zarurat nahi hai. Shuruaat hoti hai ek precise, testable rule se. Example: Main tab buy karunga, jab 20-day moving average, 50-day moving average ke upar cross karega. Aur jab 20-day moving average wapas 50-day ke neeche cross karega, tab exit karunga.
[Video 08:49 · Scene S23]
Ab is rule ko historical data par backtest kiya ja sakta hai — win rate, drawdown, average risk-to-reward, aur alag-alag market conditions mein iska behaviour check karte hue.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09:04 · Scene S24]
Strategy banana ek challenge hai. Lekin use consistently execute karna, usse bhi bada challenge hai. Yahi woh jagah hai, jahan traders apne hi systems tod dete hain: kuch signals par trade lena, aur kuch ko skip kar dena. Stop loss ko move karna. Losing trade ko is ummeed mein hold karna, ki woh recover ho jayega. Aur drawdown ke baad strategy ko abandon kar dena.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09:39 · Scene S25]
Iska solution hai ek trade journal. Entry condition, entry price, exit price, stop loss, take profit, market condition aur result — sab log karo. Phir compare karo: kya aapki live performance backtest ke behaviour jaisi hai? Agar live performance significantly worse hai, to possible reasons ho sakte hain overfitting, market conditions ka badal jaana, execution problems — ya strategy ki edge ka degrade hona.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10:15 · Scene S26]
Systematic strategies bhi drawdown periods se guzarti hain. Important sawaal sirf yeh nahi hai ki "kya mujhe loss hua?" — balki yeh hai ki kya yeh ek normal historical drawdown hai, ya strategy ki edge genuinely badal gayi hai. Khud se poocho: Kya market regime change hua hai? Kya similar strategies bhi underperform kar rahi hain? Kya signal conditions abhi bhi generate ho rahi hain? Aur current market historical conditions se kitna different hai?
[Video 10:52 · Scene S27]
Recent losses ke baad aisa lag sakta hai ki strategy permanently fail ho gayi hai. Lekin agar strategy properly backtested aur validated hai, to historical evidence drawdown ko objectively evaluate karne ka ek better basis deta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11:11 · Scene S28]
Ab baat karte hain advanced traps ki. Sabse bada trap: overfitting — strategy ko historical data ke hisaab se itna optimize kar dena, ki backtest strong dikhe, lekin live market mein strategy fail ho jaye. Ho sakta hai strategy asli market pattern ke bajay, historical noise seekh rahi ho.
[Video 11:36 · Scene S29]
Iska ek defence hai: out-of-sample testing — yaani strategy ko aise alag data par test karna, jo use develop karne mein use nahi hua.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11:50 · Scene S30]
Phir aate hain transaction costs. Trading ka actual cost sirf entry aur exit price nahi hota. Spread, commission, slippage ya market impact, aur overnight financing — yeh sab aapki edge ko kam kar sakte hain. High-turnover strategies inke liye khaas taur par sensitive hoti hain.
[Video 12:14 · Scene S31]
Capacity limits: agar bahut zyada capital ek hi strategy ko follow kare, to large orders market ko move kar sakte hain aur returns kam kar sakte hain — haalanki small retail accounts ke liye yeh usually utna relevant nahi hota. Aur signal degradation: jo intraday pattern pehle kaam karta tha, woh time ke saath kam effective ho sakta hai — khaas kar tab, jab bahut saare traders use pehchan kar use karne lagein.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12:48 · Scene S32]
Aur aakhir mein, systematic trading ki paanch common mistakes. Ek: model ko over-complicate karna. Zyada complexity ka matlab automatically better strategy nahi hota; simple aur robust models overfitting ke liye kam vulnerable ho sakte hain. Do: bina clear rationale ke signals use karna. Sirf statistical pattern mil jana kaafi nahi hai; yeh samajhna bhi zaroori hai ki woh pattern exist kyun kar sakta hai. Teen: bahut kam data par testing. Short backtest misleading ho sakta hai. Strategy ko high aur low volatility, trending aur range-bound markets, aur alag-alag macro environments mein test karo. Chaar: market regime change ko ignore karna. Policy, volatility, liquidity aur trader behaviour — sab badalte rehte hain, aur sab performance ko affect kar sakte hain. Aur paanch: live conditions ko monitor na karna. Check karo ki aaj ka market un conditions jaisa hai ya nahi, jahan aapki strategy historically best perform karti thi.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13:59 · Scene S33]
Renaissance ki performance sirf models ka result nahi thi. Yeh ek process se aayi: evidence dhoondho, use test karo, discipline ke saath trade karo, monitor karo — aur jo kaam karna band kar de, use remove karo. Aap Medallion ko copy nahi kar sakte. Lekin aap uska discipline zaroor copy kar sakte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14:23 · Scene S34]
Yeh video sirf educational purpose ke liye hai. Historical performance future results ki guarantee nahi hoti — aur yahan Medallion ke proprietary models ko replicate karne ka koi claim nahi kiya gaya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4"/>
        </a:solidFill>
      </p:bgPr>
    </p:bg>
    <p:spTree>
      <p:nvGrpSpPr>
        <p:cNvPr id="1" name=""/>
        <p:cNvGrpSpPr/>
        <p:nvPr/>
      </p:nvGrpSpPr>
      <p:grpSpPr>
        <a:xfrm>
          <a:off x="0" y="0"/>
          <a:ext cx="0" cy="0"/>
          <a:chOff x="0" y="0"/>
          <a:chExt cx="0" cy="0"/>
        </a:xfrm>
      </p:grpSpPr>
      <p:pic>
        <p:nvPicPr>
          <p:cNvPr id="2" name="Image 0" descr="Video frame: People, Data, Technology">    </p:cNvPr>
          <p:cNvPicPr>
            <a:picLocks noChangeAspect="1"/>
          </p:cNvPicPr>
          <p:nvPr/>
        </p:nvPicPr>
        <p:blipFill>
          <a:blip r:embed="rId1">
            <a:alphaModFix amt="65000"/>
          </a:blip>
          <a:stretch>
            <a:fillRect/>
          </a:stretch>
        </p:blipFill>
        <p:spPr>
          <a:xfrm>
            <a:off x="5120640" y="1097280"/>
            <a:ext cx="3840480" cy="2160270"/>
          </a:xfrm>
          <a:prstGeom prst="rect">
            <a:avLst/>
          </a:prstGeom>
        </p:spPr>
      </p:pic>
      <p:sp>
        <p:nvSpPr>
          <p:cNvPr id="3" name="Text 0"/>
          <p:cNvSpPr txBox="1"/>
          <p:nvPr/>
        </p:nvSpPr>
        <p:spPr>
          <a:xfrm>
            <a:off x="548640" y="1234440"/>
            <a:ext cx="4572000" cy="274320"/>
          </a:xfrm>
          <a:prstGeom prst="rect">
            <a:avLst/>
          </a:prstGeom>
          <a:noFill/>
          <a:ln/>
        </p:spPr>
        <p:txBody>
          <a:bodyPr wrap="square" lIns="0" tIns="0" rIns="0" bIns="0" rtlCol="0" anchor="ctr"/>
          <a:lstStyle/>
          <a:p>
            <a:pPr indent="0" marL="0">
              <a:buNone/>
            </a:pPr>
            <a:r>
              <a:rPr lang="en-US" sz="1100" b="1" spc="400" kern="0" dirty="0">
                <a:solidFill>
                  <a:srgbClr val="C8FF4D"/>
                </a:solidFill>
                <a:latin typeface="Calibri" pitchFamily="34" charset="0"/>
                <a:ea typeface="Calibri" pitchFamily="34" charset="-122"/>
                <a:cs typeface="Calibri" pitchFamily="34" charset="-120"/>
              </a:rPr>
              <a:t>HINGLISH EXPLAINER</a:t>
            </a:r>
            <a:endParaRPr lang="en-US" sz="1100" dirty="0"/>
          </a:p>
        </p:txBody>
      </p:sp>
      <p:sp>
        <p:nvSpPr>
          <p:cNvPr id="4" name="Text 1"/>
          <p:cNvSpPr txBox="1"/>
          <p:nvPr/>
        </p:nvSpPr>
        <p:spPr>
          <a:xfrm>
            <a:off x="548640" y="1554480"/>
            <a:ext cx="5120640" cy="1325880"/>
          </a:xfrm>
          <a:prstGeom prst="rect">
            <a:avLst/>
          </a:prstGeom>
          <a:noFill/>
          <a:ln/>
        </p:spPr>
        <p:txBody>
          <a:bodyPr wrap="square" lIns="0" tIns="0" rIns="0" bIns="0" rtlCol="0" anchor="t"/>
          <a:lstStyle/>
          <a:p>
            <a:pPr indent="0" marL="0">
              <a:buNone/>
            </a:pPr>
            <a:r>
              <a:rPr lang="en-US" sz="3400" dirty="0">
                <a:solidFill>
                  <a:srgbClr val="DBE3EA"/>
                </a:solidFill>
                <a:latin typeface="Cambria" pitchFamily="34" charset="0"/>
                <a:ea typeface="Cambria" pitchFamily="34" charset="-122"/>
                <a:cs typeface="Cambria" pitchFamily="34" charset="-120"/>
              </a:rPr>
              <a:t>The Mathematician's</a:t>
            </a:r>
            <a:endParaRPr lang="en-US" sz="3400" dirty="0"/>
          </a:p>
          <a:p>
            <a:pPr indent="0" marL="0">
              <a:buNone/>
            </a:pPr>
            <a:r>
              <a:rPr lang="en-US" sz="3400" dirty="0">
                <a:solidFill>
                  <a:srgbClr val="DBE3EA"/>
                </a:solidFill>
                <a:latin typeface="Cambria" pitchFamily="34" charset="0"/>
                <a:ea typeface="Cambria" pitchFamily="34" charset="-122"/>
                <a:cs typeface="Cambria" pitchFamily="34" charset="-120"/>
              </a:rPr>
              <a:t>Edge</a:t>
            </a:r>
            <a:endParaRPr lang="en-US" sz="3400" dirty="0"/>
          </a:p>
        </p:txBody>
      </p:sp>
      <p:sp>
        <p:nvSpPr>
          <p:cNvPr id="5" name="Text 2"/>
          <p:cNvSpPr txBox="1"/>
          <p:nvPr/>
        </p:nvSpPr>
        <p:spPr>
          <a:xfrm>
            <a:off x="548640" y="3063240"/>
            <a:ext cx="4389120" cy="731520"/>
          </a:xfrm>
          <a:prstGeom prst="rect">
            <a:avLst/>
          </a:prstGeom>
          <a:noFill/>
          <a:ln/>
        </p:spPr>
        <p:txBody>
          <a:bodyPr wrap="square" lIns="0" tIns="0" rIns="0" bIns="0" rtlCol="0" anchor="t"/>
          <a:lstStyle/>
          <a:p>
            <a:pPr indent="0" marL="0">
              <a:buNone/>
            </a:pPr>
            <a:r>
              <a:rPr lang="en-US" sz="1500" dirty="0">
                <a:solidFill>
                  <a:srgbClr val="8A97A4"/>
                </a:solidFill>
                <a:latin typeface="Calibri" pitchFamily="34" charset="0"/>
                <a:ea typeface="Calibri" pitchFamily="34" charset="-122"/>
                <a:cs typeface="Calibri" pitchFamily="34" charset="-120"/>
              </a:rPr>
              <a:t>Jim Simons ka Trading Approach — math, data aur discipline se trading ko samjhein</a:t>
            </a:r>
            <a:endParaRPr lang="en-US" sz="1500" dirty="0"/>
          </a:p>
        </p:txBody>
      </p:sp>
      <p:sp>
        <p:nvSpPr>
          <p:cNvPr id="6" name="Text 3"/>
          <p:cNvSpPr txBox="1"/>
          <p:nvPr/>
        </p:nvSpPr>
        <p:spPr>
          <a:xfrm>
            <a:off x="548640" y="4434840"/>
            <a:ext cx="5486400" cy="274320"/>
          </a:xfrm>
          <a:prstGeom prst="rect">
            <a:avLst/>
          </a:prstGeom>
          <a:noFill/>
          <a:ln/>
        </p:spPr>
        <p:txBody>
          <a:bodyPr wrap="square" lIns="0" tIns="0" rIns="0" bIns="0" rtlCol="0" anchor="ctr"/>
          <a:lstStyle/>
          <a:p>
            <a:pPr indent="0" marL="0">
              <a:buNone/>
            </a:pPr>
            <a:r>
              <a:rPr lang="en-US" sz="900" dirty="0">
                <a:solidFill>
                  <a:srgbClr val="8A97A4"/>
                </a:solidFill>
                <a:latin typeface="Calibri" pitchFamily="34" charset="0"/>
                <a:ea typeface="Calibri" pitchFamily="34" charset="-122"/>
                <a:cs typeface="Calibri" pitchFamily="34" charset="-120"/>
              </a:rPr>
              <a:t>Sirf educational content · Historical performance future results ki guarantee nahi hai</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b="1" spc="300" kern="0" dirty="0">
                <a:solidFill>
                  <a:srgbClr val="C8FF4D"/>
                </a:solidFill>
                <a:latin typeface="Calibri" pitchFamily="34" charset="0"/>
                <a:ea typeface="Calibri" pitchFamily="34" charset="-122"/>
                <a:cs typeface="Calibri" pitchFamily="34" charset="-120"/>
              </a:rPr>
              <a:t>COLD OPEN</a:t>
            </a:r>
            <a:endParaRPr lang="en-US" sz="10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dirty="0">
                <a:solidFill>
                  <a:srgbClr val="DBE3EA"/>
                </a:solidFill>
                <a:latin typeface="Cambria" pitchFamily="34" charset="0"/>
                <a:ea typeface="Cambria" pitchFamily="34" charset="-122"/>
                <a:cs typeface="Cambria" pitchFamily="34" charset="-120"/>
              </a:rPr>
              <a:t>Ek number jo sab kuch shuru karta hai</a:t>
            </a:r>
            <a:endParaRPr lang="en-US" sz="2800" dirty="0"/>
          </a:p>
        </p:txBody>
      </p:sp>
      <p:sp>
        <p:nvSpPr>
          <p:cNvPr id="4" name="Text 2"/>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8A97A4"/>
                </a:solidFill>
                <a:latin typeface="Calibri" pitchFamily="34" charset="0"/>
                <a:ea typeface="Calibri" pitchFamily="34" charset="-122"/>
                <a:cs typeface="Calibri" pitchFamily="34" charset="-120"/>
              </a:rPr>
              <a:t>2</a:t>
            </a:r>
            <a:endParaRPr lang="en-US" sz="900" dirty="0"/>
          </a:p>
        </p:txBody>
      </p:sp>
      <p:sp>
        <p:nvSpPr>
          <p:cNvPr id="5" name="Text 3"/>
          <p:cNvSpPr txBox="1"/>
          <p:nvPr/>
        </p:nvSpPr>
        <p:spPr>
          <a:xfrm>
            <a:off x="457200" y="1325880"/>
            <a:ext cx="3931920" cy="1280160"/>
          </a:xfrm>
          <a:prstGeom prst="rect">
            <a:avLst/>
          </a:prstGeom>
          <a:noFill/>
          <a:ln/>
        </p:spPr>
        <p:txBody>
          <a:bodyPr wrap="square" lIns="0" tIns="0" rIns="0" bIns="0" rtlCol="0" anchor="t"/>
          <a:lstStyle/>
          <a:p>
            <a:pPr indent="0" marL="0">
              <a:buNone/>
            </a:pPr>
            <a:r>
              <a:rPr lang="en-US" sz="8000" dirty="0">
                <a:solidFill>
                  <a:srgbClr val="F0C75E"/>
                </a:solidFill>
                <a:latin typeface="Cambria" pitchFamily="34" charset="0"/>
                <a:ea typeface="Cambria" pitchFamily="34" charset="-122"/>
                <a:cs typeface="Cambria" pitchFamily="34" charset="-120"/>
              </a:rPr>
              <a:t>~66%</a:t>
            </a:r>
            <a:endParaRPr lang="en-US" sz="8000" dirty="0"/>
          </a:p>
        </p:txBody>
      </p:sp>
      <p:sp>
        <p:nvSpPr>
          <p:cNvPr id="6" name="Text 4"/>
          <p:cNvSpPr txBox="1"/>
          <p:nvPr/>
        </p:nvSpPr>
        <p:spPr>
          <a:xfrm>
            <a:off x="457200" y="2651760"/>
            <a:ext cx="3931920" cy="320040"/>
          </a:xfrm>
          <a:prstGeom prst="rect">
            <a:avLst/>
          </a:prstGeom>
          <a:noFill/>
          <a:ln/>
        </p:spPr>
        <p:txBody>
          <a:bodyPr wrap="square" lIns="0" tIns="0" rIns="0" bIns="0" rtlCol="0" anchor="ctr"/>
          <a:lstStyle/>
          <a:p>
            <a:pPr indent="0" marL="0">
              <a:buNone/>
            </a:pPr>
            <a:r>
              <a:rPr lang="en-US" sz="1300" b="1" dirty="0">
                <a:solidFill>
                  <a:srgbClr val="DBE3EA"/>
                </a:solidFill>
                <a:latin typeface="Calibri" pitchFamily="34" charset="0"/>
                <a:ea typeface="Calibri" pitchFamily="34" charset="-122"/>
                <a:cs typeface="Calibri" pitchFamily="34" charset="-120"/>
              </a:rPr>
              <a:t>Average annual return · fees se pehle · reportedly</a:t>
            </a:r>
            <a:endParaRPr lang="en-US" sz="1300" dirty="0"/>
          </a:p>
        </p:txBody>
      </p:sp>
      <p:sp>
        <p:nvSpPr>
          <p:cNvPr id="7" name="Text 5"/>
          <p:cNvSpPr txBox="1"/>
          <p:nvPr/>
        </p:nvSpPr>
        <p:spPr>
          <a:xfrm>
            <a:off x="457200" y="2971800"/>
            <a:ext cx="3931920" cy="320040"/>
          </a:xfrm>
          <a:prstGeom prst="rect">
            <a:avLst/>
          </a:prstGeom>
          <a:noFill/>
          <a:ln/>
        </p:spPr>
        <p:txBody>
          <a:bodyPr wrap="square" lIns="0" tIns="0" rIns="0" bIns="0" rtlCol="0" anchor="ctr"/>
          <a:lstStyle/>
          <a:p>
            <a:pPr indent="0" marL="0">
              <a:buNone/>
            </a:pPr>
            <a:r>
              <a:rPr lang="en-US" sz="1300" dirty="0">
                <a:solidFill>
                  <a:srgbClr val="8A97A4"/>
                </a:solidFill>
                <a:latin typeface="Calibri" pitchFamily="34" charset="0"/>
                <a:ea typeface="Calibri" pitchFamily="34" charset="-122"/>
                <a:cs typeface="Calibri" pitchFamily="34" charset="-120"/>
              </a:rPr>
              <a:t>Medallion Fund — 30+ saal tak</a:t>
            </a:r>
            <a:endParaRPr lang="en-US" sz="1300" dirty="0"/>
          </a:p>
        </p:txBody>
      </p:sp>
      <p:sp>
        <p:nvSpPr>
          <p:cNvPr id="8" name="Text 6"/>
          <p:cNvSpPr txBox="1"/>
          <p:nvPr/>
        </p:nvSpPr>
        <p:spPr>
          <a:xfrm>
            <a:off x="457200" y="3520440"/>
            <a:ext cx="3749040" cy="731520"/>
          </a:xfrm>
          <a:prstGeom prst="rect">
            <a:avLst/>
          </a:prstGeom>
          <a:noFill/>
          <a:ln/>
        </p:spPr>
        <p:txBody>
          <a:bodyPr wrap="square" lIns="0" tIns="0" rIns="0" bIns="0" rtlCol="0" anchor="t"/>
          <a:lstStyle/>
          <a:p>
            <a:pPr indent="0" marL="0">
              <a:buNone/>
            </a:pPr>
            <a:r>
              <a:rPr lang="en-US" sz="1400" i="1" dirty="0">
                <a:solidFill>
                  <a:srgbClr val="C8FF4D"/>
                </a:solidFill>
                <a:latin typeface="Calibri" pitchFamily="34" charset="0"/>
                <a:ea typeface="Calibri" pitchFamily="34" charset="-122"/>
                <a:cs typeface="Calibri" pitchFamily="34" charset="-120"/>
              </a:rPr>
              <a:t>Gut feeling ya market stories se nahi — mathematics, data aur scientific discipline se.</a:t>
            </a:r>
            <a:endParaRPr lang="en-US" sz="1400" dirty="0"/>
          </a:p>
        </p:txBody>
      </p:sp>
      <p:sp>
        <p:nvSpPr>
          <p:cNvPr id="9" name="Shape 7"/>
          <p:cNvSpPr/>
          <p:nvPr/>
        </p:nvSpPr>
        <p:spPr>
          <a:xfrm>
            <a:off x="4507992" y="1399032"/>
            <a:ext cx="4197096" cy="2376869"/>
          </a:xfrm>
          <a:prstGeom prst="rect">
            <a:avLst/>
          </a:prstGeom>
          <a:solidFill>
            <a:srgbClr val="2A3542"/>
          </a:solidFill>
          <a:ln w="12700">
            <a:solidFill>
              <a:srgbClr val="2A3542"/>
            </a:solidFill>
            <a:prstDash val="solid"/>
          </a:ln>
          <a:effectLst>
            <a:outerShdw sx="100000" sy="100000" kx="0" ky="0" algn="bl" rotWithShape="0" blurRad="152400" dist="38100" dir="5400000">
              <a:srgbClr val="000000">
                <a:alpha val="45000"/>
              </a:srgbClr>
            </a:outerShdw>
          </a:effectLst>
        </p:spPr>
      </p:sp>
      <p:pic>
        <p:nvPicPr>
          <p:cNvPr id="10" name="Image 0" descr="Video frame, scene S02">    </p:cNvPr>
          <p:cNvPicPr>
            <a:picLocks noChangeAspect="1"/>
          </p:cNvPicPr>
          <p:nvPr/>
        </p:nvPicPr>
        <p:blipFill>
          <a:blip r:embed="rId1"/>
          <a:stretch>
            <a:fillRect/>
          </a:stretch>
        </p:blipFill>
        <p:spPr>
          <a:xfrm>
            <a:off x="4526280" y="1417320"/>
            <a:ext cx="4160520" cy="2340292"/>
          </a:xfrm>
          <a:prstGeom prst="rect">
            <a:avLst/>
          </a:prstGeom>
        </p:spPr>
      </p:pic>
      <p:sp>
        <p:nvSpPr>
          <p:cNvPr id="11" name="Text 8"/>
          <p:cNvSpPr txBox="1"/>
          <p:nvPr/>
        </p:nvSpPr>
        <p:spPr>
          <a:xfrm>
            <a:off x="4526280" y="3840480"/>
            <a:ext cx="4114800" cy="256032"/>
          </a:xfrm>
          <a:prstGeom prst="rect">
            <a:avLst/>
          </a:prstGeom>
          <a:noFill/>
          <a:ln/>
        </p:spPr>
        <p:txBody>
          <a:bodyPr wrap="square" lIns="0" tIns="0" rIns="0" bIns="0" rtlCol="0" anchor="ctr"/>
          <a:lstStyle/>
          <a:p>
            <a:pPr indent="0" marL="0">
              <a:buNone/>
            </a:pPr>
            <a:r>
              <a:rPr lang="en-US" sz="1000" dirty="0">
                <a:solidFill>
                  <a:srgbClr val="8A97A4"/>
                </a:solidFill>
                <a:latin typeface="Calibri" pitchFamily="34" charset="0"/>
                <a:ea typeface="Calibri" pitchFamily="34" charset="-122"/>
                <a:cs typeface="Calibri" pitchFamily="34" charset="-120"/>
              </a:rPr>
              <a:t>Video frame · Scene S02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b="1" spc="300" kern="0" dirty="0">
                <a:solidFill>
                  <a:srgbClr val="C8FF4D"/>
                </a:solidFill>
                <a:latin typeface="Calibri" pitchFamily="34" charset="0"/>
                <a:ea typeface="Calibri" pitchFamily="34" charset="-122"/>
                <a:cs typeface="Calibri" pitchFamily="34" charset="-120"/>
              </a:rPr>
              <a:t>IS VIDEO MEIN</a:t>
            </a:r>
            <a:endParaRPr lang="en-US" sz="10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dirty="0">
                <a:solidFill>
                  <a:srgbClr val="DBE3EA"/>
                </a:solidFill>
                <a:latin typeface="Cambria" pitchFamily="34" charset="0"/>
                <a:ea typeface="Cambria" pitchFamily="34" charset="-122"/>
                <a:cs typeface="Cambria" pitchFamily="34" charset="-120"/>
              </a:rPr>
              <a:t>Hum kya samjhenge — aur kya nahi</a:t>
            </a:r>
            <a:endParaRPr lang="en-US" sz="2800" dirty="0"/>
          </a:p>
        </p:txBody>
      </p:sp>
      <p:sp>
        <p:nvSpPr>
          <p:cNvPr id="4" name="Text 2"/>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8A97A4"/>
                </a:solidFill>
                <a:latin typeface="Calibri" pitchFamily="34" charset="0"/>
                <a:ea typeface="Calibri" pitchFamily="34" charset="-122"/>
                <a:cs typeface="Calibri" pitchFamily="34" charset="-120"/>
              </a:rPr>
              <a:t>3</a:t>
            </a:r>
            <a:endParaRPr lang="en-US" sz="900" dirty="0"/>
          </a:p>
        </p:txBody>
      </p:sp>
      <p:sp>
        <p:nvSpPr>
          <p:cNvPr id="5" name="Shape 3"/>
          <p:cNvSpPr/>
          <p:nvPr/>
        </p:nvSpPr>
        <p:spPr>
          <a:xfrm>
            <a:off x="502920" y="1417320"/>
            <a:ext cx="384048" cy="384048"/>
          </a:xfrm>
          <a:prstGeom prst="ellipse">
            <a:avLst/>
          </a:prstGeom>
          <a:solidFill>
            <a:srgbClr val="141C26"/>
          </a:solidFill>
          <a:ln w="19050">
            <a:solidFill>
              <a:srgbClr val="C8FF4D"/>
            </a:solidFill>
            <a:prstDash val="solid"/>
          </a:ln>
        </p:spPr>
      </p:sp>
      <p:sp>
        <p:nvSpPr>
          <p:cNvPr id="6" name="Text 4"/>
          <p:cNvSpPr txBox="1"/>
          <p:nvPr/>
        </p:nvSpPr>
        <p:spPr>
          <a:xfrm>
            <a:off x="502920" y="1417320"/>
            <a:ext cx="384048" cy="384048"/>
          </a:xfrm>
          <a:prstGeom prst="rect">
            <a:avLst/>
          </a:prstGeom>
          <a:noFill/>
          <a:ln/>
        </p:spPr>
        <p:txBody>
          <a:bodyPr wrap="square" lIns="0" tIns="0" rIns="0" bIns="0" rtlCol="0" anchor="ctr"/>
          <a:lstStyle/>
          <a:p>
            <a:pPr algn="ctr" indent="0" marL="0">
              <a:buNone/>
            </a:pPr>
            <a:r>
              <a:rPr lang="en-US" sz="1200" b="1" dirty="0">
                <a:solidFill>
                  <a:srgbClr val="C8FF4D"/>
                </a:solidFill>
                <a:latin typeface="Calibri" pitchFamily="34" charset="0"/>
                <a:ea typeface="Calibri" pitchFamily="34" charset="-122"/>
                <a:cs typeface="Calibri" pitchFamily="34" charset="-120"/>
              </a:rPr>
              <a:t>01</a:t>
            </a:r>
            <a:endParaRPr lang="en-US" sz="1200" dirty="0"/>
          </a:p>
        </p:txBody>
      </p:sp>
      <p:sp>
        <p:nvSpPr>
          <p:cNvPr id="7" name="Text 5"/>
          <p:cNvSpPr txBox="1"/>
          <p:nvPr/>
        </p:nvSpPr>
        <p:spPr>
          <a:xfrm>
            <a:off x="1051560" y="1399032"/>
            <a:ext cx="6858000" cy="274320"/>
          </a:xfrm>
          <a:prstGeom prst="rect">
            <a:avLst/>
          </a:prstGeom>
          <a:noFill/>
          <a:ln/>
        </p:spPr>
        <p:txBody>
          <a:bodyPr wrap="square" lIns="0" tIns="0" rIns="0" bIns="0" rtlCol="0" anchor="ctr"/>
          <a:lstStyle/>
          <a:p>
            <a:pPr indent="0" marL="0">
              <a:buNone/>
            </a:pPr>
            <a:r>
              <a:rPr lang="en-US" sz="1600" b="1" dirty="0">
                <a:solidFill>
                  <a:srgbClr val="DBE3EA"/>
                </a:solidFill>
                <a:latin typeface="Calibri" pitchFamily="34" charset="0"/>
                <a:ea typeface="Calibri" pitchFamily="34" charset="-122"/>
                <a:cs typeface="Calibri" pitchFamily="34" charset="-120"/>
              </a:rPr>
              <a:t>The approach</a:t>
            </a:r>
            <a:endParaRPr lang="en-US" sz="1600" dirty="0"/>
          </a:p>
        </p:txBody>
      </p:sp>
      <p:sp>
        <p:nvSpPr>
          <p:cNvPr id="8" name="Text 6"/>
          <p:cNvSpPr txBox="1"/>
          <p:nvPr/>
        </p:nvSpPr>
        <p:spPr>
          <a:xfrm>
            <a:off x="1051560" y="1673352"/>
            <a:ext cx="6858000" cy="274320"/>
          </a:xfrm>
          <a:prstGeom prst="rect">
            <a:avLst/>
          </a:prstGeom>
          <a:noFill/>
          <a:ln/>
        </p:spPr>
        <p:txBody>
          <a:bodyPr wrap="square" lIns="0" tIns="0" rIns="0" bIns="0" rtlCol="0" anchor="ctr"/>
          <a:lstStyle/>
          <a:p>
            <a:pPr indent="0" marL="0">
              <a:buNone/>
            </a:pPr>
            <a:r>
              <a:rPr lang="en-US" sz="1300" dirty="0">
                <a:solidFill>
                  <a:srgbClr val="8A97A4"/>
                </a:solidFill>
                <a:latin typeface="Calibri" pitchFamily="34" charset="0"/>
                <a:ea typeface="Calibri" pitchFamily="34" charset="-122"/>
                <a:cs typeface="Calibri" pitchFamily="34" charset="-120"/>
              </a:rPr>
              <a:t>Simons ne markets ko kaise approach kiya</a:t>
            </a:r>
            <a:endParaRPr lang="en-US" sz="1300" dirty="0"/>
          </a:p>
        </p:txBody>
      </p:sp>
      <p:sp>
        <p:nvSpPr>
          <p:cNvPr id="9" name="Shape 7"/>
          <p:cNvSpPr/>
          <p:nvPr/>
        </p:nvSpPr>
        <p:spPr>
          <a:xfrm>
            <a:off x="502920" y="2194560"/>
            <a:ext cx="384048" cy="384048"/>
          </a:xfrm>
          <a:prstGeom prst="ellipse">
            <a:avLst/>
          </a:prstGeom>
          <a:solidFill>
            <a:srgbClr val="141C26"/>
          </a:solidFill>
          <a:ln w="19050">
            <a:solidFill>
              <a:srgbClr val="C8FF4D"/>
            </a:solidFill>
            <a:prstDash val="solid"/>
          </a:ln>
        </p:spPr>
      </p:sp>
      <p:sp>
        <p:nvSpPr>
          <p:cNvPr id="10" name="Text 8"/>
          <p:cNvSpPr txBox="1"/>
          <p:nvPr/>
        </p:nvSpPr>
        <p:spPr>
          <a:xfrm>
            <a:off x="502920" y="2194560"/>
            <a:ext cx="384048" cy="384048"/>
          </a:xfrm>
          <a:prstGeom prst="rect">
            <a:avLst/>
          </a:prstGeom>
          <a:noFill/>
          <a:ln/>
        </p:spPr>
        <p:txBody>
          <a:bodyPr wrap="square" lIns="0" tIns="0" rIns="0" bIns="0" rtlCol="0" anchor="ctr"/>
          <a:lstStyle/>
          <a:p>
            <a:pPr algn="ctr" indent="0" marL="0">
              <a:buNone/>
            </a:pPr>
            <a:r>
              <a:rPr lang="en-US" sz="1200" b="1" dirty="0">
                <a:solidFill>
                  <a:srgbClr val="C8FF4D"/>
                </a:solidFill>
                <a:latin typeface="Calibri" pitchFamily="34" charset="0"/>
                <a:ea typeface="Calibri" pitchFamily="34" charset="-122"/>
                <a:cs typeface="Calibri" pitchFamily="34" charset="-120"/>
              </a:rPr>
              <a:t>02</a:t>
            </a:r>
            <a:endParaRPr lang="en-US" sz="1200" dirty="0"/>
          </a:p>
        </p:txBody>
      </p:sp>
      <p:sp>
        <p:nvSpPr>
          <p:cNvPr id="11" name="Text 9"/>
          <p:cNvSpPr txBox="1"/>
          <p:nvPr/>
        </p:nvSpPr>
        <p:spPr>
          <a:xfrm>
            <a:off x="1051560" y="2176272"/>
            <a:ext cx="6858000" cy="274320"/>
          </a:xfrm>
          <a:prstGeom prst="rect">
            <a:avLst/>
          </a:prstGeom>
          <a:noFill/>
          <a:ln/>
        </p:spPr>
        <p:txBody>
          <a:bodyPr wrap="square" lIns="0" tIns="0" rIns="0" bIns="0" rtlCol="0" anchor="ctr"/>
          <a:lstStyle/>
          <a:p>
            <a:pPr indent="0" marL="0">
              <a:buNone/>
            </a:pPr>
            <a:r>
              <a:rPr lang="en-US" sz="1600" b="1" dirty="0">
                <a:solidFill>
                  <a:srgbClr val="DBE3EA"/>
                </a:solidFill>
                <a:latin typeface="Calibri" pitchFamily="34" charset="0"/>
                <a:ea typeface="Calibri" pitchFamily="34" charset="-122"/>
                <a:cs typeface="Calibri" pitchFamily="34" charset="-120"/>
              </a:rPr>
              <a:t>The edge</a:t>
            </a:r>
            <a:endParaRPr lang="en-US" sz="1600" dirty="0"/>
          </a:p>
        </p:txBody>
      </p:sp>
      <p:sp>
        <p:nvSpPr>
          <p:cNvPr id="12" name="Text 10"/>
          <p:cNvSpPr txBox="1"/>
          <p:nvPr/>
        </p:nvSpPr>
        <p:spPr>
          <a:xfrm>
            <a:off x="1051560" y="2450592"/>
            <a:ext cx="6858000" cy="274320"/>
          </a:xfrm>
          <a:prstGeom prst="rect">
            <a:avLst/>
          </a:prstGeom>
          <a:noFill/>
          <a:ln/>
        </p:spPr>
        <p:txBody>
          <a:bodyPr wrap="square" lIns="0" tIns="0" rIns="0" bIns="0" rtlCol="0" anchor="ctr"/>
          <a:lstStyle/>
          <a:p>
            <a:pPr indent="0" marL="0">
              <a:buNone/>
            </a:pPr>
            <a:r>
              <a:rPr lang="en-US" sz="1300" dirty="0">
                <a:solidFill>
                  <a:srgbClr val="8A97A4"/>
                </a:solidFill>
                <a:latin typeface="Calibri" pitchFamily="34" charset="0"/>
                <a:ea typeface="Calibri" pitchFamily="34" charset="-122"/>
                <a:cs typeface="Calibri" pitchFamily="34" charset="-120"/>
              </a:rPr>
              <a:t>Unki edge ke peeche asli wajah kya thi</a:t>
            </a:r>
            <a:endParaRPr lang="en-US" sz="1300" dirty="0"/>
          </a:p>
        </p:txBody>
      </p:sp>
      <p:sp>
        <p:nvSpPr>
          <p:cNvPr id="13" name="Shape 11"/>
          <p:cNvSpPr/>
          <p:nvPr/>
        </p:nvSpPr>
        <p:spPr>
          <a:xfrm>
            <a:off x="502920" y="2971800"/>
            <a:ext cx="384048" cy="384048"/>
          </a:xfrm>
          <a:prstGeom prst="ellipse">
            <a:avLst/>
          </a:prstGeom>
          <a:solidFill>
            <a:srgbClr val="141C26"/>
          </a:solidFill>
          <a:ln w="19050">
            <a:solidFill>
              <a:srgbClr val="C8FF4D"/>
            </a:solidFill>
            <a:prstDash val="solid"/>
          </a:ln>
        </p:spPr>
      </p:sp>
      <p:sp>
        <p:nvSpPr>
          <p:cNvPr id="14" name="Text 12"/>
          <p:cNvSpPr txBox="1"/>
          <p:nvPr/>
        </p:nvSpPr>
        <p:spPr>
          <a:xfrm>
            <a:off x="502920" y="2971800"/>
            <a:ext cx="384048" cy="384048"/>
          </a:xfrm>
          <a:prstGeom prst="rect">
            <a:avLst/>
          </a:prstGeom>
          <a:noFill/>
          <a:ln/>
        </p:spPr>
        <p:txBody>
          <a:bodyPr wrap="square" lIns="0" tIns="0" rIns="0" bIns="0" rtlCol="0" anchor="ctr"/>
          <a:lstStyle/>
          <a:p>
            <a:pPr algn="ctr" indent="0" marL="0">
              <a:buNone/>
            </a:pPr>
            <a:r>
              <a:rPr lang="en-US" sz="1200" b="1" dirty="0">
                <a:solidFill>
                  <a:srgbClr val="C8FF4D"/>
                </a:solidFill>
                <a:latin typeface="Calibri" pitchFamily="34" charset="0"/>
                <a:ea typeface="Calibri" pitchFamily="34" charset="-122"/>
                <a:cs typeface="Calibri" pitchFamily="34" charset="-120"/>
              </a:rPr>
              <a:t>03</a:t>
            </a:r>
            <a:endParaRPr lang="en-US" sz="1200" dirty="0"/>
          </a:p>
        </p:txBody>
      </p:sp>
      <p:sp>
        <p:nvSpPr>
          <p:cNvPr id="15" name="Text 13"/>
          <p:cNvSpPr txBox="1"/>
          <p:nvPr/>
        </p:nvSpPr>
        <p:spPr>
          <a:xfrm>
            <a:off x="1051560" y="2953512"/>
            <a:ext cx="6858000" cy="274320"/>
          </a:xfrm>
          <a:prstGeom prst="rect">
            <a:avLst/>
          </a:prstGeom>
          <a:noFill/>
          <a:ln/>
        </p:spPr>
        <p:txBody>
          <a:bodyPr wrap="square" lIns="0" tIns="0" rIns="0" bIns="0" rtlCol="0" anchor="ctr"/>
          <a:lstStyle/>
          <a:p>
            <a:pPr indent="0" marL="0">
              <a:buNone/>
            </a:pPr>
            <a:r>
              <a:rPr lang="en-US" sz="1600" b="1" dirty="0">
                <a:solidFill>
                  <a:srgbClr val="DBE3EA"/>
                </a:solidFill>
                <a:latin typeface="Calibri" pitchFamily="34" charset="0"/>
                <a:ea typeface="Calibri" pitchFamily="34" charset="-122"/>
                <a:cs typeface="Calibri" pitchFamily="34" charset="-120"/>
              </a:rPr>
              <a:t>Aap kya use kar sakte ho</a:t>
            </a:r>
            <a:endParaRPr lang="en-US" sz="1600" dirty="0"/>
          </a:p>
        </p:txBody>
      </p:sp>
      <p:sp>
        <p:nvSpPr>
          <p:cNvPr id="16" name="Text 14"/>
          <p:cNvSpPr txBox="1"/>
          <p:nvPr/>
        </p:nvSpPr>
        <p:spPr>
          <a:xfrm>
            <a:off x="1051560" y="3227832"/>
            <a:ext cx="6858000" cy="274320"/>
          </a:xfrm>
          <a:prstGeom prst="rect">
            <a:avLst/>
          </a:prstGeom>
          <a:noFill/>
          <a:ln/>
        </p:spPr>
        <p:txBody>
          <a:bodyPr wrap="square" lIns="0" tIns="0" rIns="0" bIns="0" rtlCol="0" anchor="ctr"/>
          <a:lstStyle/>
          <a:p>
            <a:pPr indent="0" marL="0">
              <a:buNone/>
            </a:pPr>
            <a:r>
              <a:rPr lang="en-US" sz="1300" dirty="0">
                <a:solidFill>
                  <a:srgbClr val="8A97A4"/>
                </a:solidFill>
                <a:latin typeface="Calibri" pitchFamily="34" charset="0"/>
                <a:ea typeface="Calibri" pitchFamily="34" charset="-122"/>
                <a:cs typeface="Calibri" pitchFamily="34" charset="-120"/>
              </a:rPr>
              <a:t>Kaunse principles ek retail trader realistically use kar sakta hai</a:t>
            </a:r>
            <a:endParaRPr lang="en-US" sz="1300" dirty="0"/>
          </a:p>
        </p:txBody>
      </p:sp>
      <p:sp>
        <p:nvSpPr>
          <p:cNvPr id="17" name="Shape 15"/>
          <p:cNvSpPr/>
          <p:nvPr/>
        </p:nvSpPr>
        <p:spPr>
          <a:xfrm>
            <a:off x="502920" y="3749040"/>
            <a:ext cx="384048" cy="384048"/>
          </a:xfrm>
          <a:prstGeom prst="ellipse">
            <a:avLst/>
          </a:prstGeom>
          <a:solidFill>
            <a:srgbClr val="141C26"/>
          </a:solidFill>
          <a:ln w="19050">
            <a:solidFill>
              <a:srgbClr val="FF5A5F"/>
            </a:solidFill>
            <a:prstDash val="solid"/>
          </a:ln>
        </p:spPr>
      </p:sp>
      <p:sp>
        <p:nvSpPr>
          <p:cNvPr id="18" name="Text 16"/>
          <p:cNvSpPr txBox="1"/>
          <p:nvPr/>
        </p:nvSpPr>
        <p:spPr>
          <a:xfrm>
            <a:off x="502920" y="3749040"/>
            <a:ext cx="384048" cy="384048"/>
          </a:xfrm>
          <a:prstGeom prst="rect">
            <a:avLst/>
          </a:prstGeom>
          <a:noFill/>
          <a:ln/>
        </p:spPr>
        <p:txBody>
          <a:bodyPr wrap="square" lIns="0" tIns="0" rIns="0" bIns="0" rtlCol="0" anchor="ctr"/>
          <a:lstStyle/>
          <a:p>
            <a:pPr algn="ctr" indent="0" marL="0">
              <a:buNone/>
            </a:pPr>
            <a:r>
              <a:rPr lang="en-US" sz="1200" b="1" dirty="0">
                <a:solidFill>
                  <a:srgbClr val="FF5A5F"/>
                </a:solidFill>
                <a:latin typeface="Calibri" pitchFamily="34" charset="0"/>
                <a:ea typeface="Calibri" pitchFamily="34" charset="-122"/>
                <a:cs typeface="Calibri" pitchFamily="34" charset="-120"/>
              </a:rPr>
              <a:t>04</a:t>
            </a:r>
            <a:endParaRPr lang="en-US" sz="1200" dirty="0"/>
          </a:p>
        </p:txBody>
      </p:sp>
      <p:sp>
        <p:nvSpPr>
          <p:cNvPr id="19" name="Text 17"/>
          <p:cNvSpPr txBox="1"/>
          <p:nvPr/>
        </p:nvSpPr>
        <p:spPr>
          <a:xfrm>
            <a:off x="1051560" y="3730752"/>
            <a:ext cx="6858000" cy="274320"/>
          </a:xfrm>
          <a:prstGeom prst="rect">
            <a:avLst/>
          </a:prstGeom>
          <a:noFill/>
          <a:ln/>
        </p:spPr>
        <p:txBody>
          <a:bodyPr wrap="square" lIns="0" tIns="0" rIns="0" bIns="0" rtlCol="0" anchor="ctr"/>
          <a:lstStyle/>
          <a:p>
            <a:pPr indent="0" marL="0">
              <a:buNone/>
            </a:pPr>
            <a:r>
              <a:rPr lang="en-US" sz="1600" b="1" dirty="0">
                <a:solidFill>
                  <a:srgbClr val="DBE3EA"/>
                </a:solidFill>
                <a:latin typeface="Calibri" pitchFamily="34" charset="0"/>
                <a:ea typeface="Calibri" pitchFamily="34" charset="-122"/>
                <a:cs typeface="Calibri" pitchFamily="34" charset="-120"/>
              </a:rPr>
              <a:t>…aur kya nahi</a:t>
            </a:r>
            <a:endParaRPr lang="en-US" sz="1600" dirty="0"/>
          </a:p>
        </p:txBody>
      </p:sp>
      <p:sp>
        <p:nvSpPr>
          <p:cNvPr id="20" name="Text 18"/>
          <p:cNvSpPr txBox="1"/>
          <p:nvPr/>
        </p:nvSpPr>
        <p:spPr>
          <a:xfrm>
            <a:off x="1051560" y="4005072"/>
            <a:ext cx="6858000" cy="274320"/>
          </a:xfrm>
          <a:prstGeom prst="rect">
            <a:avLst/>
          </a:prstGeom>
          <a:noFill/>
          <a:ln/>
        </p:spPr>
        <p:txBody>
          <a:bodyPr wrap="square" lIns="0" tIns="0" rIns="0" bIns="0" rtlCol="0" anchor="ctr"/>
          <a:lstStyle/>
          <a:p>
            <a:pPr indent="0" marL="0">
              <a:buNone/>
            </a:pPr>
            <a:r>
              <a:rPr lang="en-US" sz="1300" dirty="0">
                <a:solidFill>
                  <a:srgbClr val="8A97A4"/>
                </a:solidFill>
                <a:latin typeface="Calibri" pitchFamily="34" charset="0"/>
                <a:ea typeface="Calibri" pitchFamily="34" charset="-122"/>
                <a:cs typeface="Calibri" pitchFamily="34" charset="-120"/>
              </a:rPr>
              <a:t>Kya copy karna possible hi nahi hai</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b="1" spc="300" kern="0" dirty="0">
                <a:solidFill>
                  <a:srgbClr val="C8FF4D"/>
                </a:solidFill>
                <a:latin typeface="Calibri" pitchFamily="34" charset="0"/>
                <a:ea typeface="Calibri" pitchFamily="34" charset="-122"/>
                <a:cs typeface="Calibri" pitchFamily="34" charset="-120"/>
              </a:rPr>
              <a:t>CHAPTER 01 · MARKETS AS A MATH PROBLEM</a:t>
            </a:r>
            <a:endParaRPr lang="en-US" sz="10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dirty="0">
                <a:solidFill>
                  <a:srgbClr val="DBE3EA"/>
                </a:solidFill>
                <a:latin typeface="Cambria" pitchFamily="34" charset="0"/>
                <a:ea typeface="Cambria" pitchFamily="34" charset="-122"/>
                <a:cs typeface="Cambria" pitchFamily="34" charset="-120"/>
              </a:rPr>
              <a:t>1982: Renaissance Technologies</a:t>
            </a:r>
            <a:endParaRPr lang="en-US" sz="2800" dirty="0"/>
          </a:p>
        </p:txBody>
      </p:sp>
      <p:sp>
        <p:nvSpPr>
          <p:cNvPr id="4" name="Text 2"/>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8A97A4"/>
                </a:solidFill>
                <a:latin typeface="Calibri" pitchFamily="34" charset="0"/>
                <a:ea typeface="Calibri" pitchFamily="34" charset="-122"/>
                <a:cs typeface="Calibri" pitchFamily="34" charset="-120"/>
              </a:rPr>
              <a:t>4</a:t>
            </a:r>
            <a:endParaRPr lang="en-US" sz="900" dirty="0"/>
          </a:p>
        </p:txBody>
      </p:sp>
      <p:sp>
        <p:nvSpPr>
          <p:cNvPr id="5" name="Text 3"/>
          <p:cNvSpPr txBox="1"/>
          <p:nvPr/>
        </p:nvSpPr>
        <p:spPr>
          <a:xfrm>
            <a:off x="457200" y="1325880"/>
            <a:ext cx="3657600" cy="914400"/>
          </a:xfrm>
          <a:prstGeom prst="rect">
            <a:avLst/>
          </a:prstGeom>
          <a:noFill/>
          <a:ln/>
        </p:spPr>
        <p:txBody>
          <a:bodyPr wrap="square" lIns="0" tIns="0" rIns="0" bIns="0" rtlCol="0" anchor="t"/>
          <a:lstStyle/>
          <a:p>
            <a:pPr indent="0" marL="0">
              <a:buNone/>
            </a:pPr>
            <a:r>
              <a:rPr lang="en-US" sz="6000" dirty="0">
                <a:solidFill>
                  <a:srgbClr val="F0C75E"/>
                </a:solidFill>
                <a:latin typeface="Cambria" pitchFamily="34" charset="0"/>
                <a:ea typeface="Cambria" pitchFamily="34" charset="-122"/>
                <a:cs typeface="Cambria" pitchFamily="34" charset="-120"/>
              </a:rPr>
              <a:t>1982</a:t>
            </a:r>
            <a:endParaRPr lang="en-US" sz="6000" dirty="0"/>
          </a:p>
        </p:txBody>
      </p:sp>
      <p:sp>
        <p:nvSpPr>
          <p:cNvPr id="6" name="Text 4"/>
          <p:cNvSpPr txBox="1"/>
          <p:nvPr/>
        </p:nvSpPr>
        <p:spPr>
          <a:xfrm>
            <a:off x="457200" y="2423160"/>
            <a:ext cx="4023360" cy="2011680"/>
          </a:xfrm>
          <a:prstGeom prst="rect">
            <a:avLst/>
          </a:prstGeom>
          <a:noFill/>
          <a:ln/>
        </p:spPr>
        <p:txBody>
          <a:bodyPr wrap="square" lIns="0" tIns="0" rIns="0" bIns="0" rtlCol="0" anchor="t"/>
          <a:lstStyle/>
          <a:p>
            <a:pPr indent="0" marL="0">
              <a:spcAft>
                <a:spcPts val="900"/>
              </a:spcAft>
              <a:buNone/>
            </a:pPr>
            <a:r>
              <a:rPr lang="en-US" sz="1400" b="1" dirty="0">
                <a:solidFill>
                  <a:srgbClr val="C8FF4D"/>
                </a:solidFill>
                <a:latin typeface="Calibri" pitchFamily="34" charset="0"/>
                <a:ea typeface="Calibri" pitchFamily="34" charset="-122"/>
                <a:cs typeface="Calibri" pitchFamily="34" charset="-120"/>
              </a:rPr>
              <a:t>Founder: </a:t>
            </a:r>
            <a:pPr indent="0" marL="0">
              <a:spcAft>
                <a:spcPts val="900"/>
              </a:spcAft>
              <a:buNone/>
            </a:pPr>
            <a:r>
              <a:rPr lang="en-US" sz="1400" dirty="0">
                <a:solidFill>
                  <a:srgbClr val="DBE3EA"/>
                </a:solidFill>
                <a:latin typeface="Calibri" pitchFamily="34" charset="0"/>
                <a:ea typeface="Calibri" pitchFamily="34" charset="-122"/>
                <a:cs typeface="Calibri" pitchFamily="34" charset="-120"/>
              </a:rPr>
              <a:t>Jim Simons ne Renaissance Technologies ki foundation rakhi</a:t>
            </a:r>
            <a:endParaRPr lang="en-US" sz="1400" dirty="0"/>
          </a:p>
          <a:p>
            <a:pPr indent="0" marL="0">
              <a:spcAft>
                <a:spcPts val="900"/>
              </a:spcAft>
              <a:buNone/>
            </a:pPr>
            <a:r>
              <a:rPr lang="en-US" sz="1400" b="1" dirty="0">
                <a:solidFill>
                  <a:srgbClr val="C8FF4D"/>
                </a:solidFill>
                <a:latin typeface="Calibri" pitchFamily="34" charset="0"/>
                <a:ea typeface="Calibri" pitchFamily="34" charset="-122"/>
                <a:cs typeface="Calibri" pitchFamily="34" charset="-120"/>
              </a:rPr>
              <a:t>Background: </a:t>
            </a:r>
            <a:pPr indent="0" marL="0">
              <a:spcAft>
                <a:spcPts val="900"/>
              </a:spcAft>
              <a:buNone/>
            </a:pPr>
            <a:r>
              <a:rPr lang="en-US" sz="1400" dirty="0">
                <a:solidFill>
                  <a:srgbClr val="DBE3EA"/>
                </a:solidFill>
                <a:latin typeface="Calibri" pitchFamily="34" charset="0"/>
                <a:ea typeface="Calibri" pitchFamily="34" charset="-122"/>
                <a:cs typeface="Calibri" pitchFamily="34" charset="-120"/>
              </a:rPr>
              <a:t>Mathematician aur former signals analyst</a:t>
            </a:r>
            <a:endParaRPr lang="en-US" sz="1400" dirty="0"/>
          </a:p>
          <a:p>
            <a:pPr indent="0" marL="0">
              <a:spcAft>
                <a:spcPts val="900"/>
              </a:spcAft>
              <a:buNone/>
            </a:pPr>
            <a:r>
              <a:rPr lang="en-US" sz="1400" b="1" dirty="0">
                <a:solidFill>
                  <a:srgbClr val="C8FF4D"/>
                </a:solidFill>
                <a:latin typeface="Calibri" pitchFamily="34" charset="0"/>
                <a:ea typeface="Calibri" pitchFamily="34" charset="-122"/>
                <a:cs typeface="Calibri" pitchFamily="34" charset="-120"/>
              </a:rPr>
              <a:t>Nazariya: </a:t>
            </a:r>
            <a:pPr indent="0" marL="0">
              <a:spcAft>
                <a:spcPts val="900"/>
              </a:spcAft>
              <a:buNone/>
            </a:pPr>
            <a:r>
              <a:rPr lang="en-US" sz="1400" dirty="0">
                <a:solidFill>
                  <a:srgbClr val="DBE3EA"/>
                </a:solidFill>
                <a:latin typeface="Calibri" pitchFamily="34" charset="0"/>
                <a:ea typeface="Calibri" pitchFamily="34" charset="-122"/>
                <a:cs typeface="Calibri" pitchFamily="34" charset="-120"/>
              </a:rPr>
              <a:t>Market ko dekhne ka tareeka traditional traders se bilkul alag</a:t>
            </a:r>
            <a:endParaRPr lang="en-US" sz="1400" dirty="0"/>
          </a:p>
        </p:txBody>
      </p:sp>
      <p:sp>
        <p:nvSpPr>
          <p:cNvPr id="7" name="Shape 5"/>
          <p:cNvSpPr/>
          <p:nvPr/>
        </p:nvSpPr>
        <p:spPr>
          <a:xfrm>
            <a:off x="5120640" y="1234440"/>
            <a:ext cx="3566160" cy="3291840"/>
          </a:xfrm>
          <a:prstGeom prst="roundRect">
            <a:avLst>
              <a:gd name="adj" fmla="val 3333"/>
            </a:avLst>
          </a:prstGeom>
          <a:solidFill>
            <a:srgbClr val="141C26"/>
          </a:solidFill>
          <a:ln w="12700">
            <a:solidFill>
              <a:srgbClr val="8A97A4"/>
            </a:solidFill>
            <a:prstDash val="dash"/>
          </a:ln>
        </p:spPr>
      </p:sp>
      <p:sp>
        <p:nvSpPr>
          <p:cNvPr id="8" name="Text 6"/>
          <p:cNvSpPr txBox="1"/>
          <p:nvPr/>
        </p:nvSpPr>
        <p:spPr>
          <a:xfrm>
            <a:off x="5349240" y="2011680"/>
            <a:ext cx="3108960" cy="1737360"/>
          </a:xfrm>
          <a:prstGeom prst="rect">
            <a:avLst/>
          </a:prstGeom>
          <a:noFill/>
          <a:ln/>
        </p:spPr>
        <p:txBody>
          <a:bodyPr wrap="square" lIns="0" tIns="0" rIns="0" bIns="0" rtlCol="0" anchor="ctr"/>
          <a:lstStyle/>
          <a:p>
            <a:pPr algn="ctr" indent="0" marL="0">
              <a:buNone/>
            </a:pPr>
            <a:r>
              <a:rPr lang="en-US" sz="1200" b="1" spc="300" kern="0" dirty="0">
                <a:solidFill>
                  <a:srgbClr val="F0C75E"/>
                </a:solidFill>
                <a:latin typeface="Calibri" pitchFamily="34" charset="0"/>
                <a:ea typeface="Calibri" pitchFamily="34" charset="-122"/>
                <a:cs typeface="Calibri" pitchFamily="34" charset="-120"/>
              </a:rPr>
              <a:t>PHOTO SLOT</a:t>
            </a:r>
            <a:endParaRPr lang="en-US" sz="1200" dirty="0"/>
          </a:p>
          <a:p>
            <a:pPr algn="ctr" indent="0" marL="0">
              <a:buNone/>
            </a:pPr>
            <a:r>
              <a:rPr lang="en-US" sz="1300" dirty="0">
                <a:solidFill>
                  <a:srgbClr val="DBE3EA"/>
                </a:solidFill>
                <a:latin typeface="Calibri" pitchFamily="34" charset="0"/>
                <a:ea typeface="Calibri" pitchFamily="34" charset="-122"/>
                <a:cs typeface="Calibri" pitchFamily="34" charset="-120"/>
              </a:rPr>
              <a:t>Jim Simons ki real photo yahan lagayein</a:t>
            </a:r>
            <a:endParaRPr lang="en-US" sz="1200" dirty="0"/>
          </a:p>
          <a:p>
            <a:pPr algn="ctr" indent="0" marL="0">
              <a:buNone/>
            </a:pPr>
            <a:r>
              <a:rPr lang="en-US" sz="1000" dirty="0">
                <a:solidFill>
                  <a:srgbClr val="8A97A4"/>
                </a:solidFill>
                <a:latin typeface="Calibri" pitchFamily="34" charset="0"/>
                <a:ea typeface="Calibri" pitchFamily="34" charset="-122"/>
                <a:cs typeface="Calibri" pitchFamily="34" charset="-120"/>
              </a:rPr>
              <a:t>Licensed image hi use karein (Getty / AP) ya Wikimedia Commons ki CC photo — attribution ke saath. Is box ko delete karke photo drag-and-drop karein.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b="1" spc="300" kern="0" dirty="0">
                <a:solidFill>
                  <a:srgbClr val="C8FF4D"/>
                </a:solidFill>
                <a:latin typeface="Calibri" pitchFamily="34" charset="0"/>
                <a:ea typeface="Calibri" pitchFamily="34" charset="-122"/>
                <a:cs typeface="Calibri" pitchFamily="34" charset="-120"/>
              </a:rPr>
              <a:t>CORE IDEA</a:t>
            </a:r>
            <a:endParaRPr lang="en-US" sz="10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dirty="0">
                <a:solidFill>
                  <a:srgbClr val="DBE3EA"/>
                </a:solidFill>
                <a:latin typeface="Cambria" pitchFamily="34" charset="0"/>
                <a:ea typeface="Cambria" pitchFamily="34" charset="-122"/>
                <a:cs typeface="Cambria" pitchFamily="34" charset="-120"/>
              </a:rPr>
              <a:t>Data mein persistent, predictable patterns</a:t>
            </a:r>
            <a:endParaRPr lang="en-US" sz="2800" dirty="0"/>
          </a:p>
        </p:txBody>
      </p:sp>
      <p:sp>
        <p:nvSpPr>
          <p:cNvPr id="4" name="Text 2"/>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8A97A4"/>
                </a:solidFill>
                <a:latin typeface="Calibri" pitchFamily="34" charset="0"/>
                <a:ea typeface="Calibri" pitchFamily="34" charset="-122"/>
                <a:cs typeface="Calibri" pitchFamily="34" charset="-120"/>
              </a:rPr>
              <a:t>5</a:t>
            </a:r>
            <a:endParaRPr lang="en-US" sz="900" dirty="0"/>
          </a:p>
        </p:txBody>
      </p:sp>
      <p:sp>
        <p:nvSpPr>
          <p:cNvPr id="5" name="Text 3"/>
          <p:cNvSpPr txBox="1"/>
          <p:nvPr/>
        </p:nvSpPr>
        <p:spPr>
          <a:xfrm>
            <a:off x="457200" y="1371600"/>
            <a:ext cx="3840480" cy="3108960"/>
          </a:xfrm>
          <a:prstGeom prst="rect">
            <a:avLst/>
          </a:prstGeom>
          <a:noFill/>
          <a:ln/>
        </p:spPr>
        <p:txBody>
          <a:bodyPr wrap="square" lIns="0" tIns="0" rIns="0" bIns="0" rtlCol="0" anchor="t"/>
          <a:lstStyle/>
          <a:p>
            <a:pPr indent="0" marL="0">
              <a:spcAft>
                <a:spcPts val="900"/>
              </a:spcAft>
              <a:buNone/>
            </a:pPr>
            <a:r>
              <a:rPr lang="en-US" sz="1400" b="1" dirty="0">
                <a:solidFill>
                  <a:srgbClr val="C8FF4D"/>
                </a:solidFill>
                <a:latin typeface="Calibri" pitchFamily="34" charset="0"/>
                <a:ea typeface="Calibri" pitchFamily="34" charset="-122"/>
                <a:cs typeface="Calibri" pitchFamily="34" charset="-120"/>
              </a:rPr>
              <a:t>→ </a:t>
            </a:r>
            <a:pPr indent="0" marL="0">
              <a:spcAft>
                <a:spcPts val="900"/>
              </a:spcAft>
              <a:buNone/>
            </a:pPr>
            <a:r>
              <a:rPr lang="en-US" sz="1400" dirty="0">
                <a:solidFill>
                  <a:srgbClr val="DBE3EA"/>
                </a:solidFill>
                <a:latin typeface="Calibri" pitchFamily="34" charset="0"/>
                <a:ea typeface="Calibri" pitchFamily="34" charset="-122"/>
                <a:cs typeface="Calibri" pitchFamily="34" charset="-120"/>
              </a:rPr>
              <a:t>Financial market data mein persistent aur predictable patterns ho sakte hain</a:t>
            </a:r>
            <a:endParaRPr lang="en-US" sz="1400" dirty="0"/>
          </a:p>
          <a:p>
            <a:pPr indent="0" marL="0">
              <a:spcAft>
                <a:spcPts val="900"/>
              </a:spcAft>
              <a:buNone/>
            </a:pPr>
            <a:r>
              <a:rPr lang="en-US" sz="1400" b="1" dirty="0">
                <a:solidFill>
                  <a:srgbClr val="C8FF4D"/>
                </a:solidFill>
                <a:latin typeface="Calibri" pitchFamily="34" charset="0"/>
                <a:ea typeface="Calibri" pitchFamily="34" charset="-122"/>
                <a:cs typeface="Calibri" pitchFamily="34" charset="-120"/>
              </a:rPr>
              <a:t>Formula: </a:t>
            </a:r>
            <a:pPr indent="0" marL="0">
              <a:spcAft>
                <a:spcPts val="900"/>
              </a:spcAft>
              <a:buNone/>
            </a:pPr>
            <a:r>
              <a:rPr lang="en-US" sz="1400" dirty="0">
                <a:solidFill>
                  <a:srgbClr val="DBE3EA"/>
                </a:solidFill>
                <a:latin typeface="Calibri" pitchFamily="34" charset="0"/>
                <a:ea typeface="Calibri" pitchFamily="34" charset="-122"/>
                <a:cs typeface="Calibri" pitchFamily="34" charset="-120"/>
              </a:rPr>
              <a:t>Right people + right data + right technology</a:t>
            </a:r>
            <a:endParaRPr lang="en-US" sz="1400" dirty="0"/>
          </a:p>
          <a:p>
            <a:pPr indent="0" marL="0">
              <a:spcAft>
                <a:spcPts val="900"/>
              </a:spcAft>
              <a:buNone/>
            </a:pPr>
            <a:r>
              <a:rPr lang="en-US" sz="1400" b="1" dirty="0">
                <a:solidFill>
                  <a:srgbClr val="C8FF4D"/>
                </a:solidFill>
                <a:latin typeface="Calibri" pitchFamily="34" charset="0"/>
                <a:ea typeface="Calibri" pitchFamily="34" charset="-122"/>
                <a:cs typeface="Calibri" pitchFamily="34" charset="-120"/>
              </a:rPr>
              <a:t>→ </a:t>
            </a:r>
            <a:pPr indent="0" marL="0">
              <a:spcAft>
                <a:spcPts val="900"/>
              </a:spcAft>
              <a:buNone/>
            </a:pPr>
            <a:r>
              <a:rPr lang="en-US" sz="1400" dirty="0">
                <a:solidFill>
                  <a:srgbClr val="DBE3EA"/>
                </a:solidFill>
                <a:latin typeface="Calibri" pitchFamily="34" charset="0"/>
                <a:ea typeface="Calibri" pitchFamily="34" charset="-122"/>
                <a:cs typeface="Calibri" pitchFamily="34" charset="-120"/>
              </a:rPr>
              <a:t>In patterns ko identify karke systematically trade kiya ja sakta hai</a:t>
            </a:r>
            <a:endParaRPr lang="en-US" sz="1400" dirty="0"/>
          </a:p>
          <a:p>
            <a:pPr indent="0" marL="0">
              <a:spcAft>
                <a:spcPts val="900"/>
              </a:spcAft>
              <a:buNone/>
            </a:pPr>
            <a:r>
              <a:rPr lang="en-US" sz="1400" b="1" dirty="0">
                <a:solidFill>
                  <a:srgbClr val="C8FF4D"/>
                </a:solidFill>
                <a:latin typeface="Calibri" pitchFamily="34" charset="0"/>
                <a:ea typeface="Calibri" pitchFamily="34" charset="-122"/>
                <a:cs typeface="Calibri" pitchFamily="34" charset="-120"/>
              </a:rPr>
              <a:t>Kehna simple, </a:t>
            </a:r>
            <a:pPr indent="0" marL="0">
              <a:spcAft>
                <a:spcPts val="900"/>
              </a:spcAft>
              <a:buNone/>
            </a:pPr>
            <a:r>
              <a:rPr lang="en-US" sz="1400" dirty="0">
                <a:solidFill>
                  <a:srgbClr val="DBE3EA"/>
                </a:solidFill>
                <a:latin typeface="Calibri" pitchFamily="34" charset="0"/>
                <a:ea typeface="Calibri" pitchFamily="34" charset="-122"/>
                <a:cs typeface="Calibri" pitchFamily="34" charset="-120"/>
              </a:rPr>
              <a:t>execute karna mushkil</a:t>
            </a:r>
            <a:endParaRPr lang="en-US" sz="1400" dirty="0"/>
          </a:p>
        </p:txBody>
      </p:sp>
      <p:sp>
        <p:nvSpPr>
          <p:cNvPr id="6" name="Shape 4"/>
          <p:cNvSpPr/>
          <p:nvPr/>
        </p:nvSpPr>
        <p:spPr>
          <a:xfrm>
            <a:off x="4507992" y="1353312"/>
            <a:ext cx="4197096" cy="2376869"/>
          </a:xfrm>
          <a:prstGeom prst="rect">
            <a:avLst/>
          </a:prstGeom>
          <a:solidFill>
            <a:srgbClr val="2A3542"/>
          </a:solidFill>
          <a:ln w="12700">
            <a:solidFill>
              <a:srgbClr val="2A3542"/>
            </a:solidFill>
            <a:prstDash val="solid"/>
          </a:ln>
          <a:effectLst>
            <a:outerShdw sx="100000" sy="100000" kx="0" ky="0" algn="bl" rotWithShape="0" blurRad="152400" dist="38100" dir="5400000">
              <a:srgbClr val="000000">
                <a:alpha val="45000"/>
              </a:srgbClr>
            </a:outerShdw>
          </a:effectLst>
        </p:spPr>
      </p:sp>
      <p:pic>
        <p:nvPicPr>
          <p:cNvPr id="7" name="Image 0" descr="Video frame, scene S06">    </p:cNvPr>
          <p:cNvPicPr>
            <a:picLocks noChangeAspect="1"/>
          </p:cNvPicPr>
          <p:nvPr/>
        </p:nvPicPr>
        <p:blipFill>
          <a:blip r:embed="rId1"/>
          <a:stretch>
            <a:fillRect/>
          </a:stretch>
        </p:blipFill>
        <p:spPr>
          <a:xfrm>
            <a:off x="4526280" y="1371600"/>
            <a:ext cx="4160520" cy="2340292"/>
          </a:xfrm>
          <a:prstGeom prst="rect">
            <a:avLst/>
          </a:prstGeom>
        </p:spPr>
      </p:pic>
      <p:sp>
        <p:nvSpPr>
          <p:cNvPr id="8" name="Text 5"/>
          <p:cNvSpPr txBox="1"/>
          <p:nvPr/>
        </p:nvSpPr>
        <p:spPr>
          <a:xfrm>
            <a:off x="4526280" y="3794760"/>
            <a:ext cx="4114800" cy="256032"/>
          </a:xfrm>
          <a:prstGeom prst="rect">
            <a:avLst/>
          </a:prstGeom>
          <a:noFill/>
          <a:ln/>
        </p:spPr>
        <p:txBody>
          <a:bodyPr wrap="square" lIns="0" tIns="0" rIns="0" bIns="0" rtlCol="0" anchor="ctr"/>
          <a:lstStyle/>
          <a:p>
            <a:pPr indent="0" marL="0">
              <a:buNone/>
            </a:pPr>
            <a:r>
              <a:rPr lang="en-US" sz="1000" dirty="0">
                <a:solidFill>
                  <a:srgbClr val="8A97A4"/>
                </a:solidFill>
                <a:latin typeface="Calibri" pitchFamily="34" charset="0"/>
                <a:ea typeface="Calibri" pitchFamily="34" charset="-122"/>
                <a:cs typeface="Calibri" pitchFamily="34" charset="-120"/>
              </a:rPr>
              <a:t>People · Data · Technology → Systematic trading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b="1" spc="300" kern="0" dirty="0">
                <a:solidFill>
                  <a:srgbClr val="C8FF4D"/>
                </a:solidFill>
                <a:latin typeface="Calibri" pitchFamily="34" charset="0"/>
                <a:ea typeface="Calibri" pitchFamily="34" charset="-122"/>
                <a:cs typeface="Calibri" pitchFamily="34" charset="-120"/>
              </a:rPr>
              <a:t>APPROACH</a:t>
            </a:r>
            <a:endParaRPr lang="en-US" sz="10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dirty="0">
                <a:solidFill>
                  <a:srgbClr val="DBE3EA"/>
                </a:solidFill>
                <a:latin typeface="Cambria" pitchFamily="34" charset="0"/>
                <a:ea typeface="Cambria" pitchFamily="34" charset="-122"/>
                <a:cs typeface="Cambria" pitchFamily="34" charset="-120"/>
              </a:rPr>
              <a:t>Stories nahi — statistical pattern recognition</a:t>
            </a:r>
            <a:endParaRPr lang="en-US" sz="2800" dirty="0"/>
          </a:p>
        </p:txBody>
      </p:sp>
      <p:sp>
        <p:nvSpPr>
          <p:cNvPr id="4" name="Text 2"/>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8A97A4"/>
                </a:solidFill>
                <a:latin typeface="Calibri" pitchFamily="34" charset="0"/>
                <a:ea typeface="Calibri" pitchFamily="34" charset="-122"/>
                <a:cs typeface="Calibri" pitchFamily="34" charset="-120"/>
              </a:rPr>
              <a:t>6</a:t>
            </a:r>
            <a:endParaRPr lang="en-US" sz="900" dirty="0"/>
          </a:p>
        </p:txBody>
      </p:sp>
      <p:sp>
        <p:nvSpPr>
          <p:cNvPr id="5" name="Shape 3"/>
          <p:cNvSpPr/>
          <p:nvPr/>
        </p:nvSpPr>
        <p:spPr>
          <a:xfrm>
            <a:off x="438912" y="1353312"/>
            <a:ext cx="4197096" cy="2376869"/>
          </a:xfrm>
          <a:prstGeom prst="rect">
            <a:avLst/>
          </a:prstGeom>
          <a:solidFill>
            <a:srgbClr val="2A3542"/>
          </a:solidFill>
          <a:ln w="12700">
            <a:solidFill>
              <a:srgbClr val="2A3542"/>
            </a:solidFill>
            <a:prstDash val="solid"/>
          </a:ln>
          <a:effectLst>
            <a:outerShdw sx="100000" sy="100000" kx="0" ky="0" algn="bl" rotWithShape="0" blurRad="152400" dist="38100" dir="5400000">
              <a:srgbClr val="000000">
                <a:alpha val="45000"/>
              </a:srgbClr>
            </a:outerShdw>
          </a:effectLst>
        </p:spPr>
      </p:sp>
      <p:pic>
        <p:nvPicPr>
          <p:cNvPr id="6" name="Image 0" descr="Video frame, scene S07">    </p:cNvPr>
          <p:cNvPicPr>
            <a:picLocks noChangeAspect="1"/>
          </p:cNvPicPr>
          <p:nvPr/>
        </p:nvPicPr>
        <p:blipFill>
          <a:blip r:embed="rId1"/>
          <a:stretch>
            <a:fillRect/>
          </a:stretch>
        </p:blipFill>
        <p:spPr>
          <a:xfrm>
            <a:off x="457200" y="1371600"/>
            <a:ext cx="4160520" cy="2340292"/>
          </a:xfrm>
          <a:prstGeom prst="rect">
            <a:avLst/>
          </a:prstGeom>
        </p:spPr>
      </p:pic>
      <p:sp>
        <p:nvSpPr>
          <p:cNvPr id="7" name="Text 4"/>
          <p:cNvSpPr txBox="1"/>
          <p:nvPr/>
        </p:nvSpPr>
        <p:spPr>
          <a:xfrm>
            <a:off x="4892040" y="1371600"/>
            <a:ext cx="3794760" cy="3108960"/>
          </a:xfrm>
          <a:prstGeom prst="rect">
            <a:avLst/>
          </a:prstGeom>
          <a:noFill/>
          <a:ln/>
        </p:spPr>
        <p:txBody>
          <a:bodyPr wrap="square" lIns="0" tIns="0" rIns="0" bIns="0" rtlCol="0" anchor="t"/>
          <a:lstStyle/>
          <a:p>
            <a:pPr indent="0" marL="0">
              <a:spcAft>
                <a:spcPts val="900"/>
              </a:spcAft>
              <a:buNone/>
            </a:pPr>
            <a:r>
              <a:rPr lang="en-US" sz="1400" b="1" dirty="0">
                <a:solidFill>
                  <a:srgbClr val="C8FF4D"/>
                </a:solidFill>
                <a:latin typeface="Calibri" pitchFamily="34" charset="0"/>
                <a:ea typeface="Calibri" pitchFamily="34" charset="-122"/>
                <a:cs typeface="Calibri" pitchFamily="34" charset="-120"/>
              </a:rPr>
              <a:t>Nahi: </a:t>
            </a:r>
            <a:pPr indent="0" marL="0">
              <a:spcAft>
                <a:spcPts val="900"/>
              </a:spcAft>
              <a:buNone/>
            </a:pPr>
            <a:r>
              <a:rPr lang="en-US" sz="1400" dirty="0">
                <a:solidFill>
                  <a:srgbClr val="DBE3EA"/>
                </a:solidFill>
                <a:latin typeface="Calibri" pitchFamily="34" charset="0"/>
                <a:ea typeface="Calibri" pitchFamily="34" charset="-122"/>
                <a:cs typeface="Calibri" pitchFamily="34" charset="-120"/>
              </a:rPr>
              <a:t>traditional, qualitative market analysis</a:t>
            </a:r>
            <a:endParaRPr lang="en-US" sz="1400" dirty="0"/>
          </a:p>
          <a:p>
            <a:pPr indent="0" marL="0">
              <a:spcAft>
                <a:spcPts val="900"/>
              </a:spcAft>
              <a:buNone/>
            </a:pPr>
            <a:r>
              <a:rPr lang="en-US" sz="1400" b="1" dirty="0">
                <a:solidFill>
                  <a:srgbClr val="C8FF4D"/>
                </a:solidFill>
                <a:latin typeface="Calibri" pitchFamily="34" charset="0"/>
                <a:ea typeface="Calibri" pitchFamily="34" charset="-122"/>
                <a:cs typeface="Calibri" pitchFamily="34" charset="-120"/>
              </a:rPr>
              <a:t>Balki: </a:t>
            </a:r>
            <a:pPr indent="0" marL="0">
              <a:spcAft>
                <a:spcPts val="900"/>
              </a:spcAft>
              <a:buNone/>
            </a:pPr>
            <a:r>
              <a:rPr lang="en-US" sz="1400" dirty="0">
                <a:solidFill>
                  <a:srgbClr val="DBE3EA"/>
                </a:solidFill>
                <a:latin typeface="Calibri" pitchFamily="34" charset="0"/>
                <a:ea typeface="Calibri" pitchFamily="34" charset="-122"/>
                <a:cs typeface="Calibri" pitchFamily="34" charset="-120"/>
              </a:rPr>
              <a:t>statistical pattern recognition</a:t>
            </a:r>
            <a:endParaRPr lang="en-US" sz="1400" dirty="0"/>
          </a:p>
          <a:p>
            <a:pPr indent="0" marL="0">
              <a:spcAft>
                <a:spcPts val="900"/>
              </a:spcAft>
              <a:buNone/>
            </a:pPr>
            <a:r>
              <a:rPr lang="en-US" sz="1400" b="1" dirty="0">
                <a:solidFill>
                  <a:srgbClr val="C8FF4D"/>
                </a:solidFill>
                <a:latin typeface="Calibri" pitchFamily="34" charset="0"/>
                <a:ea typeface="Calibri" pitchFamily="34" charset="-122"/>
                <a:cs typeface="Calibri" pitchFamily="34" charset="-120"/>
              </a:rPr>
              <a:t>→ </a:t>
            </a:r>
            <a:pPr indent="0" marL="0">
              <a:spcAft>
                <a:spcPts val="900"/>
              </a:spcAft>
              <a:buNone/>
            </a:pPr>
            <a:r>
              <a:rPr lang="en-US" sz="1400" dirty="0">
                <a:solidFill>
                  <a:srgbClr val="DBE3EA"/>
                </a:solidFill>
                <a:latin typeface="Calibri" pitchFamily="34" charset="0"/>
                <a:ea typeface="Calibri" pitchFamily="34" charset="-122"/>
                <a:cs typeface="Calibri" pitchFamily="34" charset="-120"/>
              </a:rPr>
              <a:t>Team: mathematicians, physicists aur computer scientists</a:t>
            </a:r>
            <a:endParaRPr lang="en-US" sz="1400" dirty="0"/>
          </a:p>
          <a:p>
            <a:pPr indent="0" marL="0">
              <a:spcAft>
                <a:spcPts val="900"/>
              </a:spcAft>
              <a:buNone/>
            </a:pPr>
            <a:r>
              <a:rPr lang="en-US" sz="1400" b="1" dirty="0">
                <a:solidFill>
                  <a:srgbClr val="C8FF4D"/>
                </a:solidFill>
                <a:latin typeface="Calibri" pitchFamily="34" charset="0"/>
                <a:ea typeface="Calibri" pitchFamily="34" charset="-122"/>
                <a:cs typeface="Calibri" pitchFamily="34" charset="-120"/>
              </a:rPr>
              <a:t>→ </a:t>
            </a:r>
            <a:pPr indent="0" marL="0">
              <a:spcAft>
                <a:spcPts val="900"/>
              </a:spcAft>
              <a:buNone/>
            </a:pPr>
            <a:r>
              <a:rPr lang="en-US" sz="1400" dirty="0">
                <a:solidFill>
                  <a:srgbClr val="DBE3EA"/>
                </a:solidFill>
                <a:latin typeface="Calibri" pitchFamily="34" charset="0"/>
                <a:ea typeface="Calibri" pitchFamily="34" charset="-122"/>
                <a:cs typeface="Calibri" pitchFamily="34" charset="-120"/>
              </a:rPr>
              <a:t>Belief: markets ko ek mathematical system ki tarah study kiya ja sakta hai</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b="1" spc="300" kern="0" dirty="0">
                <a:solidFill>
                  <a:srgbClr val="C8FF4D"/>
                </a:solidFill>
                <a:latin typeface="Calibri" pitchFamily="34" charset="0"/>
                <a:ea typeface="Calibri" pitchFamily="34" charset="-122"/>
                <a:cs typeface="Calibri" pitchFamily="34" charset="-120"/>
              </a:rPr>
              <a:t>CHAPTER 02 · THE MACHINE BEHIND THE EDGE</a:t>
            </a:r>
            <a:endParaRPr lang="en-US" sz="10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dirty="0">
                <a:solidFill>
                  <a:srgbClr val="DBE3EA"/>
                </a:solidFill>
                <a:latin typeface="Cambria" pitchFamily="34" charset="0"/>
                <a:ea typeface="Cambria" pitchFamily="34" charset="-122"/>
                <a:cs typeface="Cambria" pitchFamily="34" charset="-120"/>
              </a:rPr>
              <a:t>Performance sirf models ki wajah se nahi thi</a:t>
            </a:r>
            <a:endParaRPr lang="en-US" sz="2800" dirty="0"/>
          </a:p>
        </p:txBody>
      </p:sp>
      <p:sp>
        <p:nvSpPr>
          <p:cNvPr id="4" name="Text 2"/>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8A97A4"/>
                </a:solidFill>
                <a:latin typeface="Calibri" pitchFamily="34" charset="0"/>
                <a:ea typeface="Calibri" pitchFamily="34" charset="-122"/>
                <a:cs typeface="Calibri" pitchFamily="34" charset="-120"/>
              </a:rPr>
              <a:t>7</a:t>
            </a:r>
            <a:endParaRPr lang="en-US" sz="900" dirty="0"/>
          </a:p>
        </p:txBody>
      </p:sp>
      <p:sp>
        <p:nvSpPr>
          <p:cNvPr id="5" name="Shape 3"/>
          <p:cNvSpPr/>
          <p:nvPr/>
        </p:nvSpPr>
        <p:spPr>
          <a:xfrm>
            <a:off x="438912" y="1353312"/>
            <a:ext cx="4197096" cy="2376869"/>
          </a:xfrm>
          <a:prstGeom prst="rect">
            <a:avLst/>
          </a:prstGeom>
          <a:solidFill>
            <a:srgbClr val="2A3542"/>
          </a:solidFill>
          <a:ln w="12700">
            <a:solidFill>
              <a:srgbClr val="2A3542"/>
            </a:solidFill>
            <a:prstDash val="solid"/>
          </a:ln>
          <a:effectLst>
            <a:outerShdw sx="100000" sy="100000" kx="0" ky="0" algn="bl" rotWithShape="0" blurRad="152400" dist="38100" dir="5400000">
              <a:srgbClr val="000000">
                <a:alpha val="45000"/>
              </a:srgbClr>
            </a:outerShdw>
          </a:effectLst>
        </p:spPr>
      </p:sp>
      <p:pic>
        <p:nvPicPr>
          <p:cNvPr id="6" name="Image 0" descr="Video frame, scene S08">    </p:cNvPr>
          <p:cNvPicPr>
            <a:picLocks noChangeAspect="1"/>
          </p:cNvPicPr>
          <p:nvPr/>
        </p:nvPicPr>
        <p:blipFill>
          <a:blip r:embed="rId1"/>
          <a:stretch>
            <a:fillRect/>
          </a:stretch>
        </p:blipFill>
        <p:spPr>
          <a:xfrm>
            <a:off x="457200" y="1371600"/>
            <a:ext cx="4160520" cy="2340292"/>
          </a:xfrm>
          <a:prstGeom prst="rect">
            <a:avLst/>
          </a:prstGeom>
        </p:spPr>
      </p:pic>
      <p:sp>
        <p:nvSpPr>
          <p:cNvPr id="7" name="Shape 4"/>
          <p:cNvSpPr/>
          <p:nvPr/>
        </p:nvSpPr>
        <p:spPr>
          <a:xfrm>
            <a:off x="4892040" y="1371600"/>
            <a:ext cx="384048" cy="384048"/>
          </a:xfrm>
          <a:prstGeom prst="ellipse">
            <a:avLst/>
          </a:prstGeom>
          <a:solidFill>
            <a:srgbClr val="141C26"/>
          </a:solidFill>
          <a:ln w="19050">
            <a:solidFill>
              <a:srgbClr val="C8FF4D"/>
            </a:solidFill>
            <a:prstDash val="solid"/>
          </a:ln>
        </p:spPr>
      </p:sp>
      <p:sp>
        <p:nvSpPr>
          <p:cNvPr id="8" name="Text 5"/>
          <p:cNvSpPr txBox="1"/>
          <p:nvPr/>
        </p:nvSpPr>
        <p:spPr>
          <a:xfrm>
            <a:off x="4892040" y="1371600"/>
            <a:ext cx="384048" cy="384048"/>
          </a:xfrm>
          <a:prstGeom prst="rect">
            <a:avLst/>
          </a:prstGeom>
          <a:noFill/>
          <a:ln/>
        </p:spPr>
        <p:txBody>
          <a:bodyPr wrap="square" lIns="0" tIns="0" rIns="0" bIns="0" rtlCol="0" anchor="ctr"/>
          <a:lstStyle/>
          <a:p>
            <a:pPr algn="ctr" indent="0" marL="0">
              <a:buNone/>
            </a:pPr>
            <a:r>
              <a:rPr lang="en-US" sz="1200" b="1" dirty="0">
                <a:solidFill>
                  <a:srgbClr val="C8FF4D"/>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5440680" y="1371600"/>
            <a:ext cx="3200400" cy="384048"/>
          </a:xfrm>
          <a:prstGeom prst="rect">
            <a:avLst/>
          </a:prstGeom>
          <a:noFill/>
          <a:ln/>
        </p:spPr>
        <p:txBody>
          <a:bodyPr wrap="square" lIns="0" tIns="0" rIns="0" bIns="0" rtlCol="0" anchor="ctr"/>
          <a:lstStyle/>
          <a:p>
            <a:pPr indent="0" marL="0">
              <a:buNone/>
            </a:pPr>
            <a:r>
              <a:rPr lang="en-US" sz="1500" dirty="0">
                <a:solidFill>
                  <a:srgbClr val="DBE3EA"/>
                </a:solidFill>
                <a:latin typeface="Calibri" pitchFamily="34" charset="0"/>
                <a:ea typeface="Calibri" pitchFamily="34" charset="-122"/>
                <a:cs typeface="Calibri" pitchFamily="34" charset="-120"/>
              </a:rPr>
              <a:t>Execution quality</a:t>
            </a:r>
            <a:endParaRPr lang="en-US" sz="1500" dirty="0"/>
          </a:p>
        </p:txBody>
      </p:sp>
      <p:sp>
        <p:nvSpPr>
          <p:cNvPr id="10" name="Shape 7"/>
          <p:cNvSpPr/>
          <p:nvPr/>
        </p:nvSpPr>
        <p:spPr>
          <a:xfrm>
            <a:off x="4892040" y="1920240"/>
            <a:ext cx="384048" cy="384048"/>
          </a:xfrm>
          <a:prstGeom prst="ellipse">
            <a:avLst/>
          </a:prstGeom>
          <a:solidFill>
            <a:srgbClr val="141C26"/>
          </a:solidFill>
          <a:ln w="19050">
            <a:solidFill>
              <a:srgbClr val="C8FF4D"/>
            </a:solidFill>
            <a:prstDash val="solid"/>
          </a:ln>
        </p:spPr>
      </p:sp>
      <p:sp>
        <p:nvSpPr>
          <p:cNvPr id="11" name="Text 8"/>
          <p:cNvSpPr txBox="1"/>
          <p:nvPr/>
        </p:nvSpPr>
        <p:spPr>
          <a:xfrm>
            <a:off x="4892040" y="1920240"/>
            <a:ext cx="384048" cy="384048"/>
          </a:xfrm>
          <a:prstGeom prst="rect">
            <a:avLst/>
          </a:prstGeom>
          <a:noFill/>
          <a:ln/>
        </p:spPr>
        <p:txBody>
          <a:bodyPr wrap="square" lIns="0" tIns="0" rIns="0" bIns="0" rtlCol="0" anchor="ctr"/>
          <a:lstStyle/>
          <a:p>
            <a:pPr algn="ctr" indent="0" marL="0">
              <a:buNone/>
            </a:pPr>
            <a:r>
              <a:rPr lang="en-US" sz="1200" b="1" dirty="0">
                <a:solidFill>
                  <a:srgbClr val="C8FF4D"/>
                </a:solidFill>
                <a:latin typeface="Calibri" pitchFamily="34" charset="0"/>
                <a:ea typeface="Calibri" pitchFamily="34" charset="-122"/>
                <a:cs typeface="Calibri" pitchFamily="34" charset="-120"/>
              </a:rPr>
              <a:t>2</a:t>
            </a:r>
            <a:endParaRPr lang="en-US" sz="1200" dirty="0"/>
          </a:p>
        </p:txBody>
      </p:sp>
      <p:sp>
        <p:nvSpPr>
          <p:cNvPr id="12" name="Text 9"/>
          <p:cNvSpPr txBox="1"/>
          <p:nvPr/>
        </p:nvSpPr>
        <p:spPr>
          <a:xfrm>
            <a:off x="5440680" y="1920240"/>
            <a:ext cx="3200400" cy="384048"/>
          </a:xfrm>
          <a:prstGeom prst="rect">
            <a:avLst/>
          </a:prstGeom>
          <a:noFill/>
          <a:ln/>
        </p:spPr>
        <p:txBody>
          <a:bodyPr wrap="square" lIns="0" tIns="0" rIns="0" bIns="0" rtlCol="0" anchor="ctr"/>
          <a:lstStyle/>
          <a:p>
            <a:pPr indent="0" marL="0">
              <a:buNone/>
            </a:pPr>
            <a:r>
              <a:rPr lang="en-US" sz="1500" dirty="0">
                <a:solidFill>
                  <a:srgbClr val="DBE3EA"/>
                </a:solidFill>
                <a:latin typeface="Calibri" pitchFamily="34" charset="0"/>
                <a:ea typeface="Calibri" pitchFamily="34" charset="-122"/>
                <a:cs typeface="Calibri" pitchFamily="34" charset="-120"/>
              </a:rPr>
              <a:t>Scientific discipline</a:t>
            </a:r>
            <a:endParaRPr lang="en-US" sz="1500" dirty="0"/>
          </a:p>
        </p:txBody>
      </p:sp>
      <p:sp>
        <p:nvSpPr>
          <p:cNvPr id="13" name="Shape 10"/>
          <p:cNvSpPr/>
          <p:nvPr/>
        </p:nvSpPr>
        <p:spPr>
          <a:xfrm>
            <a:off x="4892040" y="2468880"/>
            <a:ext cx="384048" cy="384048"/>
          </a:xfrm>
          <a:prstGeom prst="ellipse">
            <a:avLst/>
          </a:prstGeom>
          <a:solidFill>
            <a:srgbClr val="141C26"/>
          </a:solidFill>
          <a:ln w="19050">
            <a:solidFill>
              <a:srgbClr val="C8FF4D"/>
            </a:solidFill>
            <a:prstDash val="solid"/>
          </a:ln>
        </p:spPr>
      </p:sp>
      <p:sp>
        <p:nvSpPr>
          <p:cNvPr id="14" name="Text 11"/>
          <p:cNvSpPr txBox="1"/>
          <p:nvPr/>
        </p:nvSpPr>
        <p:spPr>
          <a:xfrm>
            <a:off x="4892040" y="2468880"/>
            <a:ext cx="384048" cy="384048"/>
          </a:xfrm>
          <a:prstGeom prst="rect">
            <a:avLst/>
          </a:prstGeom>
          <a:noFill/>
          <a:ln/>
        </p:spPr>
        <p:txBody>
          <a:bodyPr wrap="square" lIns="0" tIns="0" rIns="0" bIns="0" rtlCol="0" anchor="ctr"/>
          <a:lstStyle/>
          <a:p>
            <a:pPr algn="ctr" indent="0" marL="0">
              <a:buNone/>
            </a:pPr>
            <a:r>
              <a:rPr lang="en-US" sz="1200" b="1" dirty="0">
                <a:solidFill>
                  <a:srgbClr val="C8FF4D"/>
                </a:solidFill>
                <a:latin typeface="Calibri" pitchFamily="34" charset="0"/>
                <a:ea typeface="Calibri" pitchFamily="34" charset="-122"/>
                <a:cs typeface="Calibri" pitchFamily="34" charset="-120"/>
              </a:rPr>
              <a:t>3</a:t>
            </a:r>
            <a:endParaRPr lang="en-US" sz="1200" dirty="0"/>
          </a:p>
        </p:txBody>
      </p:sp>
      <p:sp>
        <p:nvSpPr>
          <p:cNvPr id="15" name="Text 12"/>
          <p:cNvSpPr txBox="1"/>
          <p:nvPr/>
        </p:nvSpPr>
        <p:spPr>
          <a:xfrm>
            <a:off x="5440680" y="2468880"/>
            <a:ext cx="3200400" cy="384048"/>
          </a:xfrm>
          <a:prstGeom prst="rect">
            <a:avLst/>
          </a:prstGeom>
          <a:noFill/>
          <a:ln/>
        </p:spPr>
        <p:txBody>
          <a:bodyPr wrap="square" lIns="0" tIns="0" rIns="0" bIns="0" rtlCol="0" anchor="ctr"/>
          <a:lstStyle/>
          <a:p>
            <a:pPr indent="0" marL="0">
              <a:buNone/>
            </a:pPr>
            <a:r>
              <a:rPr lang="en-US" sz="1500" dirty="0">
                <a:solidFill>
                  <a:srgbClr val="DBE3EA"/>
                </a:solidFill>
                <a:latin typeface="Calibri" pitchFamily="34" charset="0"/>
                <a:ea typeface="Calibri" pitchFamily="34" charset="-122"/>
                <a:cs typeface="Calibri" pitchFamily="34" charset="-120"/>
              </a:rPr>
              <a:t>Data analysis</a:t>
            </a:r>
            <a:endParaRPr lang="en-US" sz="1500" dirty="0"/>
          </a:p>
        </p:txBody>
      </p:sp>
      <p:sp>
        <p:nvSpPr>
          <p:cNvPr id="16" name="Shape 13"/>
          <p:cNvSpPr/>
          <p:nvPr/>
        </p:nvSpPr>
        <p:spPr>
          <a:xfrm>
            <a:off x="4892040" y="3017520"/>
            <a:ext cx="384048" cy="384048"/>
          </a:xfrm>
          <a:prstGeom prst="ellipse">
            <a:avLst/>
          </a:prstGeom>
          <a:solidFill>
            <a:srgbClr val="141C26"/>
          </a:solidFill>
          <a:ln w="19050">
            <a:solidFill>
              <a:srgbClr val="C8FF4D"/>
            </a:solidFill>
            <a:prstDash val="solid"/>
          </a:ln>
        </p:spPr>
      </p:sp>
      <p:sp>
        <p:nvSpPr>
          <p:cNvPr id="17" name="Text 14"/>
          <p:cNvSpPr txBox="1"/>
          <p:nvPr/>
        </p:nvSpPr>
        <p:spPr>
          <a:xfrm>
            <a:off x="4892040" y="3017520"/>
            <a:ext cx="384048" cy="384048"/>
          </a:xfrm>
          <a:prstGeom prst="rect">
            <a:avLst/>
          </a:prstGeom>
          <a:noFill/>
          <a:ln/>
        </p:spPr>
        <p:txBody>
          <a:bodyPr wrap="square" lIns="0" tIns="0" rIns="0" bIns="0" rtlCol="0" anchor="ctr"/>
          <a:lstStyle/>
          <a:p>
            <a:pPr algn="ctr" indent="0" marL="0">
              <a:buNone/>
            </a:pPr>
            <a:r>
              <a:rPr lang="en-US" sz="1200" b="1" dirty="0">
                <a:solidFill>
                  <a:srgbClr val="C8FF4D"/>
                </a:solidFill>
                <a:latin typeface="Calibri" pitchFamily="34" charset="0"/>
                <a:ea typeface="Calibri" pitchFamily="34" charset="-122"/>
                <a:cs typeface="Calibri" pitchFamily="34" charset="-120"/>
              </a:rPr>
              <a:t>4</a:t>
            </a:r>
            <a:endParaRPr lang="en-US" sz="1200" dirty="0"/>
          </a:p>
        </p:txBody>
      </p:sp>
      <p:sp>
        <p:nvSpPr>
          <p:cNvPr id="18" name="Text 15"/>
          <p:cNvSpPr txBox="1"/>
          <p:nvPr/>
        </p:nvSpPr>
        <p:spPr>
          <a:xfrm>
            <a:off x="5440680" y="3017520"/>
            <a:ext cx="3200400" cy="384048"/>
          </a:xfrm>
          <a:prstGeom prst="rect">
            <a:avLst/>
          </a:prstGeom>
          <a:noFill/>
          <a:ln/>
        </p:spPr>
        <p:txBody>
          <a:bodyPr wrap="square" lIns="0" tIns="0" rIns="0" bIns="0" rtlCol="0" anchor="ctr"/>
          <a:lstStyle/>
          <a:p>
            <a:pPr indent="0" marL="0">
              <a:buNone/>
            </a:pPr>
            <a:r>
              <a:rPr lang="en-US" sz="1500" dirty="0">
                <a:solidFill>
                  <a:srgbClr val="DBE3EA"/>
                </a:solidFill>
                <a:latin typeface="Calibri" pitchFamily="34" charset="0"/>
                <a:ea typeface="Calibri" pitchFamily="34" charset="-122"/>
                <a:cs typeface="Calibri" pitchFamily="34" charset="-120"/>
              </a:rPr>
              <a:t>Continuous research</a:t>
            </a:r>
            <a:endParaRPr lang="en-US" sz="1500" dirty="0"/>
          </a:p>
        </p:txBody>
      </p:sp>
      <p:sp>
        <p:nvSpPr>
          <p:cNvPr id="19" name="Shape 16"/>
          <p:cNvSpPr/>
          <p:nvPr/>
        </p:nvSpPr>
        <p:spPr>
          <a:xfrm>
            <a:off x="4892040" y="3566160"/>
            <a:ext cx="384048" cy="384048"/>
          </a:xfrm>
          <a:prstGeom prst="ellipse">
            <a:avLst/>
          </a:prstGeom>
          <a:solidFill>
            <a:srgbClr val="141C26"/>
          </a:solidFill>
          <a:ln w="19050">
            <a:solidFill>
              <a:srgbClr val="C8FF4D"/>
            </a:solidFill>
            <a:prstDash val="solid"/>
          </a:ln>
        </p:spPr>
      </p:sp>
      <p:sp>
        <p:nvSpPr>
          <p:cNvPr id="20" name="Text 17"/>
          <p:cNvSpPr txBox="1"/>
          <p:nvPr/>
        </p:nvSpPr>
        <p:spPr>
          <a:xfrm>
            <a:off x="4892040" y="3566160"/>
            <a:ext cx="384048" cy="384048"/>
          </a:xfrm>
          <a:prstGeom prst="rect">
            <a:avLst/>
          </a:prstGeom>
          <a:noFill/>
          <a:ln/>
        </p:spPr>
        <p:txBody>
          <a:bodyPr wrap="square" lIns="0" tIns="0" rIns="0" bIns="0" rtlCol="0" anchor="ctr"/>
          <a:lstStyle/>
          <a:p>
            <a:pPr algn="ctr" indent="0" marL="0">
              <a:buNone/>
            </a:pPr>
            <a:r>
              <a:rPr lang="en-US" sz="1200" b="1" dirty="0">
                <a:solidFill>
                  <a:srgbClr val="C8FF4D"/>
                </a:solidFill>
                <a:latin typeface="Calibri" pitchFamily="34" charset="0"/>
                <a:ea typeface="Calibri" pitchFamily="34" charset="-122"/>
                <a:cs typeface="Calibri" pitchFamily="34" charset="-120"/>
              </a:rPr>
              <a:t>5</a:t>
            </a:r>
            <a:endParaRPr lang="en-US" sz="1200" dirty="0"/>
          </a:p>
        </p:txBody>
      </p:sp>
      <p:sp>
        <p:nvSpPr>
          <p:cNvPr id="21" name="Text 18"/>
          <p:cNvSpPr txBox="1"/>
          <p:nvPr/>
        </p:nvSpPr>
        <p:spPr>
          <a:xfrm>
            <a:off x="5440680" y="3566160"/>
            <a:ext cx="3200400" cy="384048"/>
          </a:xfrm>
          <a:prstGeom prst="rect">
            <a:avLst/>
          </a:prstGeom>
          <a:noFill/>
          <a:ln/>
        </p:spPr>
        <p:txBody>
          <a:bodyPr wrap="square" lIns="0" tIns="0" rIns="0" bIns="0" rtlCol="0" anchor="ctr"/>
          <a:lstStyle/>
          <a:p>
            <a:pPr indent="0" marL="0">
              <a:buNone/>
            </a:pPr>
            <a:r>
              <a:rPr lang="en-US" sz="1500" dirty="0">
                <a:solidFill>
                  <a:srgbClr val="DBE3EA"/>
                </a:solidFill>
                <a:latin typeface="Calibri" pitchFamily="34" charset="0"/>
                <a:ea typeface="Calibri" pitchFamily="34" charset="-122"/>
                <a:cs typeface="Calibri" pitchFamily="34" charset="-120"/>
              </a:rPr>
              <a:t>Scientists ki hiring</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b="1" spc="300" kern="0" dirty="0">
                <a:solidFill>
                  <a:srgbClr val="C8FF4D"/>
                </a:solidFill>
                <a:latin typeface="Calibri" pitchFamily="34" charset="0"/>
                <a:ea typeface="Calibri" pitchFamily="34" charset="-122"/>
                <a:cs typeface="Calibri" pitchFamily="34" charset="-120"/>
              </a:rPr>
              <a:t>CHAPTER 02</a:t>
            </a:r>
            <a:endParaRPr lang="en-US" sz="10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dirty="0">
                <a:solidFill>
                  <a:srgbClr val="DBE3EA"/>
                </a:solidFill>
                <a:latin typeface="Cambria" pitchFamily="34" charset="0"/>
                <a:ea typeface="Cambria" pitchFamily="34" charset="-122"/>
                <a:cs typeface="Cambria" pitchFamily="34" charset="-120"/>
              </a:rPr>
              <a:t>Edge ke 4 pillars</a:t>
            </a:r>
            <a:endParaRPr lang="en-US" sz="2800" dirty="0"/>
          </a:p>
        </p:txBody>
      </p:sp>
      <p:sp>
        <p:nvSpPr>
          <p:cNvPr id="4" name="Text 2"/>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8A97A4"/>
                </a:solidFill>
                <a:latin typeface="Calibri" pitchFamily="34" charset="0"/>
                <a:ea typeface="Calibri" pitchFamily="34" charset="-122"/>
                <a:cs typeface="Calibri" pitchFamily="34" charset="-120"/>
              </a:rPr>
              <a:t>8</a:t>
            </a:r>
            <a:endParaRPr lang="en-US" sz="900" dirty="0"/>
          </a:p>
        </p:txBody>
      </p:sp>
      <p:pic>
        <p:nvPicPr>
          <p:cNvPr id="5" name="Image 0" descr="Video frame, scene S09">    </p:cNvPr>
          <p:cNvPicPr>
            <a:picLocks noChangeAspect="1"/>
          </p:cNvPicPr>
          <p:nvPr/>
        </p:nvPicPr>
        <p:blipFill>
          <a:blip r:embed="rId1"/>
          <a:stretch>
            <a:fillRect/>
          </a:stretch>
        </p:blipFill>
        <p:spPr>
          <a:xfrm>
            <a:off x="457200" y="1280160"/>
            <a:ext cx="2011680" cy="1131570"/>
          </a:xfrm>
          <a:prstGeom prst="rect">
            <a:avLst/>
          </a:prstGeom>
        </p:spPr>
      </p:pic>
      <p:sp>
        <p:nvSpPr>
          <p:cNvPr id="6" name="Text 3"/>
          <p:cNvSpPr txBox="1"/>
          <p:nvPr/>
        </p:nvSpPr>
        <p:spPr>
          <a:xfrm>
            <a:off x="2606040" y="1280160"/>
            <a:ext cx="1920240" cy="548640"/>
          </a:xfrm>
          <a:prstGeom prst="rect">
            <a:avLst/>
          </a:prstGeom>
          <a:noFill/>
          <a:ln/>
        </p:spPr>
        <p:txBody>
          <a:bodyPr wrap="square" lIns="0" tIns="0" rIns="0" bIns="0" rtlCol="0" anchor="t"/>
          <a:lstStyle/>
          <a:p>
            <a:pPr indent="0" marL="0">
              <a:buNone/>
            </a:pPr>
            <a:r>
              <a:rPr lang="en-US" sz="1200" b="1" dirty="0">
                <a:solidFill>
                  <a:srgbClr val="C8FF4D"/>
                </a:solidFill>
                <a:latin typeface="Calibri" pitchFamily="34" charset="0"/>
                <a:ea typeface="Calibri" pitchFamily="34" charset="-122"/>
                <a:cs typeface="Calibri" pitchFamily="34" charset="-120"/>
              </a:rPr>
              <a:t>1 · Statistical pattern recognition</a:t>
            </a:r>
            <a:endParaRPr lang="en-US" sz="1200" dirty="0"/>
          </a:p>
        </p:txBody>
      </p:sp>
      <p:sp>
        <p:nvSpPr>
          <p:cNvPr id="7" name="Text 4"/>
          <p:cNvSpPr txBox="1"/>
          <p:nvPr/>
        </p:nvSpPr>
        <p:spPr>
          <a:xfrm>
            <a:off x="2606040" y="1828800"/>
            <a:ext cx="1920240" cy="822960"/>
          </a:xfrm>
          <a:prstGeom prst="rect">
            <a:avLst/>
          </a:prstGeom>
          <a:noFill/>
          <a:ln/>
        </p:spPr>
        <p:txBody>
          <a:bodyPr wrap="square" lIns="0" tIns="0" rIns="0" bIns="0" rtlCol="0" anchor="t"/>
          <a:lstStyle/>
          <a:p>
            <a:pPr indent="0" marL="0">
              <a:buNone/>
            </a:pPr>
            <a:r>
              <a:rPr lang="en-US" sz="1100" dirty="0">
                <a:solidFill>
                  <a:srgbClr val="DBE3EA"/>
                </a:solidFill>
                <a:latin typeface="Calibri" pitchFamily="34" charset="0"/>
                <a:ea typeface="Calibri" pitchFamily="34" charset="-122"/>
                <a:cs typeface="Calibri" pitchFamily="34" charset="-120"/>
              </a:rPr>
              <a:t>Significant, repeat hone wale, costs ke baad bhi useful signals</a:t>
            </a:r>
            <a:endParaRPr lang="en-US" sz="1100" dirty="0"/>
          </a:p>
        </p:txBody>
      </p:sp>
      <p:pic>
        <p:nvPicPr>
          <p:cNvPr id="8" name="Image 1" descr="Video frame, scene S10">    </p:cNvPr>
          <p:cNvPicPr>
            <a:picLocks noChangeAspect="1"/>
          </p:cNvPicPr>
          <p:nvPr/>
        </p:nvPicPr>
        <p:blipFill>
          <a:blip r:embed="rId2"/>
          <a:stretch>
            <a:fillRect/>
          </a:stretch>
        </p:blipFill>
        <p:spPr>
          <a:xfrm>
            <a:off x="4663440" y="1280160"/>
            <a:ext cx="2011680" cy="1131570"/>
          </a:xfrm>
          <a:prstGeom prst="rect">
            <a:avLst/>
          </a:prstGeom>
        </p:spPr>
      </p:pic>
      <p:sp>
        <p:nvSpPr>
          <p:cNvPr id="9" name="Text 5"/>
          <p:cNvSpPr txBox="1"/>
          <p:nvPr/>
        </p:nvSpPr>
        <p:spPr>
          <a:xfrm>
            <a:off x="6812280" y="1280160"/>
            <a:ext cx="1920240" cy="548640"/>
          </a:xfrm>
          <a:prstGeom prst="rect">
            <a:avLst/>
          </a:prstGeom>
          <a:noFill/>
          <a:ln/>
        </p:spPr>
        <p:txBody>
          <a:bodyPr wrap="square" lIns="0" tIns="0" rIns="0" bIns="0" rtlCol="0" anchor="t"/>
          <a:lstStyle/>
          <a:p>
            <a:pPr indent="0" marL="0">
              <a:buNone/>
            </a:pPr>
            <a:r>
              <a:rPr lang="en-US" sz="1200" b="1" dirty="0">
                <a:solidFill>
                  <a:srgbClr val="C8FF4D"/>
                </a:solidFill>
                <a:latin typeface="Calibri" pitchFamily="34" charset="0"/>
                <a:ea typeface="Calibri" pitchFamily="34" charset="-122"/>
                <a:cs typeface="Calibri" pitchFamily="34" charset="-120"/>
              </a:rPr>
              <a:t>2 · Doosri sciences se seekhna</a:t>
            </a:r>
            <a:endParaRPr lang="en-US" sz="1200" dirty="0"/>
          </a:p>
        </p:txBody>
      </p:sp>
      <p:sp>
        <p:nvSpPr>
          <p:cNvPr id="10" name="Text 6"/>
          <p:cNvSpPr txBox="1"/>
          <p:nvPr/>
        </p:nvSpPr>
        <p:spPr>
          <a:xfrm>
            <a:off x="6812280" y="1828800"/>
            <a:ext cx="1920240" cy="822960"/>
          </a:xfrm>
          <a:prstGeom prst="rect">
            <a:avLst/>
          </a:prstGeom>
          <a:noFill/>
          <a:ln/>
        </p:spPr>
        <p:txBody>
          <a:bodyPr wrap="square" lIns="0" tIns="0" rIns="0" bIns="0" rtlCol="0" anchor="t"/>
          <a:lstStyle/>
          <a:p>
            <a:pPr indent="0" marL="0">
              <a:buNone/>
            </a:pPr>
            <a:r>
              <a:rPr lang="en-US" sz="1100" dirty="0">
                <a:solidFill>
                  <a:srgbClr val="DBE3EA"/>
                </a:solidFill>
                <a:latin typeface="Calibri" pitchFamily="34" charset="0"/>
                <a:ea typeface="Calibri" pitchFamily="34" charset="-122"/>
                <a:cs typeface="Calibri" pitchFamily="34" charset="-120"/>
              </a:rPr>
              <a:t>Physics, signal processing; Hidden Markov Models (reportedly)</a:t>
            </a:r>
            <a:endParaRPr lang="en-US" sz="1100" dirty="0"/>
          </a:p>
        </p:txBody>
      </p:sp>
      <p:pic>
        <p:nvPicPr>
          <p:cNvPr id="11" name="Image 2" descr="Video frame, scene S11">    </p:cNvPr>
          <p:cNvPicPr>
            <a:picLocks noChangeAspect="1"/>
          </p:cNvPicPr>
          <p:nvPr/>
        </p:nvPicPr>
        <p:blipFill>
          <a:blip r:embed="rId3"/>
          <a:stretch>
            <a:fillRect/>
          </a:stretch>
        </p:blipFill>
        <p:spPr>
          <a:xfrm>
            <a:off x="457200" y="3108960"/>
            <a:ext cx="2011680" cy="1131570"/>
          </a:xfrm>
          <a:prstGeom prst="rect">
            <a:avLst/>
          </a:prstGeom>
        </p:spPr>
      </p:pic>
      <p:sp>
        <p:nvSpPr>
          <p:cNvPr id="12" name="Text 7"/>
          <p:cNvSpPr txBox="1"/>
          <p:nvPr/>
        </p:nvSpPr>
        <p:spPr>
          <a:xfrm>
            <a:off x="2606040" y="3108960"/>
            <a:ext cx="1920240" cy="548640"/>
          </a:xfrm>
          <a:prstGeom prst="rect">
            <a:avLst/>
          </a:prstGeom>
          <a:noFill/>
          <a:ln/>
        </p:spPr>
        <p:txBody>
          <a:bodyPr wrap="square" lIns="0" tIns="0" rIns="0" bIns="0" rtlCol="0" anchor="t"/>
          <a:lstStyle/>
          <a:p>
            <a:pPr indent="0" marL="0">
              <a:buNone/>
            </a:pPr>
            <a:r>
              <a:rPr lang="en-US" sz="1200" b="1" dirty="0">
                <a:solidFill>
                  <a:srgbClr val="C8FF4D"/>
                </a:solidFill>
                <a:latin typeface="Calibri" pitchFamily="34" charset="0"/>
                <a:ea typeface="Calibri" pitchFamily="34" charset="-122"/>
                <a:cs typeface="Calibri" pitchFamily="34" charset="-120"/>
              </a:rPr>
              <a:t>3 · Speed, consistency, scale</a:t>
            </a:r>
            <a:endParaRPr lang="en-US" sz="1200" dirty="0"/>
          </a:p>
        </p:txBody>
      </p:sp>
      <p:sp>
        <p:nvSpPr>
          <p:cNvPr id="13" name="Text 8"/>
          <p:cNvSpPr txBox="1"/>
          <p:nvPr/>
        </p:nvSpPr>
        <p:spPr>
          <a:xfrm>
            <a:off x="2606040" y="3657600"/>
            <a:ext cx="1920240" cy="822960"/>
          </a:xfrm>
          <a:prstGeom prst="rect">
            <a:avLst/>
          </a:prstGeom>
          <a:noFill/>
          <a:ln/>
        </p:spPr>
        <p:txBody>
          <a:bodyPr wrap="square" lIns="0" tIns="0" rIns="0" bIns="0" rtlCol="0" anchor="t"/>
          <a:lstStyle/>
          <a:p>
            <a:pPr indent="0" marL="0">
              <a:buNone/>
            </a:pPr>
            <a:r>
              <a:rPr lang="en-US" sz="1100" dirty="0">
                <a:solidFill>
                  <a:srgbClr val="DBE3EA"/>
                </a:solidFill>
                <a:latin typeface="Calibri" pitchFamily="34" charset="0"/>
                <a:ea typeface="Calibri" pitchFamily="34" charset="-122"/>
                <a:cs typeface="Calibri" pitchFamily="34" charset="-120"/>
              </a:rPr>
              <a:t>Medallion ki capacity intentionally limited rakhi gayi</a:t>
            </a:r>
            <a:endParaRPr lang="en-US" sz="1100" dirty="0"/>
          </a:p>
        </p:txBody>
      </p:sp>
      <p:pic>
        <p:nvPicPr>
          <p:cNvPr id="14" name="Image 3" descr="Video frame, scene S12">    </p:cNvPr>
          <p:cNvPicPr>
            <a:picLocks noChangeAspect="1"/>
          </p:cNvPicPr>
          <p:nvPr/>
        </p:nvPicPr>
        <p:blipFill>
          <a:blip r:embed="rId4"/>
          <a:stretch>
            <a:fillRect/>
          </a:stretch>
        </p:blipFill>
        <p:spPr>
          <a:xfrm>
            <a:off x="4663440" y="3108960"/>
            <a:ext cx="2011680" cy="1131570"/>
          </a:xfrm>
          <a:prstGeom prst="rect">
            <a:avLst/>
          </a:prstGeom>
        </p:spPr>
      </p:pic>
      <p:sp>
        <p:nvSpPr>
          <p:cNvPr id="15" name="Text 9"/>
          <p:cNvSpPr txBox="1"/>
          <p:nvPr/>
        </p:nvSpPr>
        <p:spPr>
          <a:xfrm>
            <a:off x="6812280" y="3108960"/>
            <a:ext cx="1920240" cy="548640"/>
          </a:xfrm>
          <a:prstGeom prst="rect">
            <a:avLst/>
          </a:prstGeom>
          <a:noFill/>
          <a:ln/>
        </p:spPr>
        <p:txBody>
          <a:bodyPr wrap="square" lIns="0" tIns="0" rIns="0" bIns="0" rtlCol="0" anchor="t"/>
          <a:lstStyle/>
          <a:p>
            <a:pPr indent="0" marL="0">
              <a:buNone/>
            </a:pPr>
            <a:r>
              <a:rPr lang="en-US" sz="1200" b="1" dirty="0">
                <a:solidFill>
                  <a:srgbClr val="C8FF4D"/>
                </a:solidFill>
                <a:latin typeface="Calibri" pitchFamily="34" charset="0"/>
                <a:ea typeface="Calibri" pitchFamily="34" charset="-122"/>
                <a:cs typeface="Calibri" pitchFamily="34" charset="-120"/>
              </a:rPr>
              <a:t>4 · Model discipline</a:t>
            </a:r>
            <a:endParaRPr lang="en-US" sz="1200" dirty="0"/>
          </a:p>
        </p:txBody>
      </p:sp>
      <p:sp>
        <p:nvSpPr>
          <p:cNvPr id="16" name="Text 10"/>
          <p:cNvSpPr txBox="1"/>
          <p:nvPr/>
        </p:nvSpPr>
        <p:spPr>
          <a:xfrm>
            <a:off x="6812280" y="3657600"/>
            <a:ext cx="1920240" cy="822960"/>
          </a:xfrm>
          <a:prstGeom prst="rect">
            <a:avLst/>
          </a:prstGeom>
          <a:noFill/>
          <a:ln/>
        </p:spPr>
        <p:txBody>
          <a:bodyPr wrap="square" lIns="0" tIns="0" rIns="0" bIns="0" rtlCol="0" anchor="t"/>
          <a:lstStyle/>
          <a:p>
            <a:pPr indent="0" marL="0">
              <a:buNone/>
            </a:pPr>
            <a:r>
              <a:rPr lang="en-US" sz="1100" dirty="0">
                <a:solidFill>
                  <a:srgbClr val="DBE3EA"/>
                </a:solidFill>
                <a:latin typeface="Calibri" pitchFamily="34" charset="0"/>
                <a:ea typeface="Calibri" pitchFamily="34" charset="-122"/>
                <a:cs typeface="Calibri" pitchFamily="34" charset="-120"/>
              </a:rPr>
              <a:t>Evidence ho to trade; kaam band kare to remove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b="1" spc="300" kern="0" dirty="0">
                <a:solidFill>
                  <a:srgbClr val="C8FF4D"/>
                </a:solidFill>
                <a:latin typeface="Calibri" pitchFamily="34" charset="0"/>
                <a:ea typeface="Calibri" pitchFamily="34" charset="-122"/>
                <a:cs typeface="Calibri" pitchFamily="34" charset="-120"/>
              </a:rPr>
              <a:t>PILLAR 4 · MODEL DISCIPLINE</a:t>
            </a:r>
            <a:endParaRPr lang="en-US" sz="10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dirty="0">
                <a:solidFill>
                  <a:srgbClr val="DBE3EA"/>
                </a:solidFill>
                <a:latin typeface="Cambria" pitchFamily="34" charset="0"/>
                <a:ea typeface="Cambria" pitchFamily="34" charset="-122"/>
                <a:cs typeface="Cambria" pitchFamily="34" charset="-120"/>
              </a:rPr>
              <a:t>Process kabhi rukta nahi tha</a:t>
            </a:r>
            <a:endParaRPr lang="en-US" sz="2800" dirty="0"/>
          </a:p>
        </p:txBody>
      </p:sp>
      <p:sp>
        <p:nvSpPr>
          <p:cNvPr id="4" name="Text 2"/>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8A97A4"/>
                </a:solidFill>
                <a:latin typeface="Calibri" pitchFamily="34" charset="0"/>
                <a:ea typeface="Calibri" pitchFamily="34" charset="-122"/>
                <a:cs typeface="Calibri" pitchFamily="34" charset="-120"/>
              </a:rPr>
              <a:t>9</a:t>
            </a:r>
            <a:endParaRPr lang="en-US" sz="900" dirty="0"/>
          </a:p>
        </p:txBody>
      </p:sp>
      <p:sp>
        <p:nvSpPr>
          <p:cNvPr id="5" name="Shape 3"/>
          <p:cNvSpPr/>
          <p:nvPr/>
        </p:nvSpPr>
        <p:spPr>
          <a:xfrm>
            <a:off x="4507992" y="1353312"/>
            <a:ext cx="4197096" cy="2376869"/>
          </a:xfrm>
          <a:prstGeom prst="rect">
            <a:avLst/>
          </a:prstGeom>
          <a:solidFill>
            <a:srgbClr val="2A3542"/>
          </a:solidFill>
          <a:ln w="12700">
            <a:solidFill>
              <a:srgbClr val="2A3542"/>
            </a:solidFill>
            <a:prstDash val="solid"/>
          </a:ln>
          <a:effectLst>
            <a:outerShdw sx="100000" sy="100000" kx="0" ky="0" algn="bl" rotWithShape="0" blurRad="152400" dist="38100" dir="5400000">
              <a:srgbClr val="000000">
                <a:alpha val="45000"/>
              </a:srgbClr>
            </a:outerShdw>
          </a:effectLst>
        </p:spPr>
      </p:sp>
      <p:pic>
        <p:nvPicPr>
          <p:cNvPr id="6" name="Image 0" descr="Video frame, scene S12">    </p:cNvPr>
          <p:cNvPicPr>
            <a:picLocks noChangeAspect="1"/>
          </p:cNvPicPr>
          <p:nvPr/>
        </p:nvPicPr>
        <p:blipFill>
          <a:blip r:embed="rId1"/>
          <a:stretch>
            <a:fillRect/>
          </a:stretch>
        </p:blipFill>
        <p:spPr>
          <a:xfrm>
            <a:off x="4526280" y="1371600"/>
            <a:ext cx="4160520" cy="2340292"/>
          </a:xfrm>
          <a:prstGeom prst="rect">
            <a:avLst/>
          </a:prstGeom>
        </p:spPr>
      </p:pic>
      <p:sp>
        <p:nvSpPr>
          <p:cNvPr id="7" name="Shape 4"/>
          <p:cNvSpPr/>
          <p:nvPr/>
        </p:nvSpPr>
        <p:spPr>
          <a:xfrm>
            <a:off x="502920" y="1371600"/>
            <a:ext cx="384048" cy="384048"/>
          </a:xfrm>
          <a:prstGeom prst="ellipse">
            <a:avLst/>
          </a:prstGeom>
          <a:solidFill>
            <a:srgbClr val="141C26"/>
          </a:solidFill>
          <a:ln w="19050">
            <a:solidFill>
              <a:srgbClr val="C8FF4D"/>
            </a:solidFill>
            <a:prstDash val="solid"/>
          </a:ln>
        </p:spPr>
      </p:sp>
      <p:sp>
        <p:nvSpPr>
          <p:cNvPr id="8" name="Text 5"/>
          <p:cNvSpPr txBox="1"/>
          <p:nvPr/>
        </p:nvSpPr>
        <p:spPr>
          <a:xfrm>
            <a:off x="502920" y="1371600"/>
            <a:ext cx="384048" cy="384048"/>
          </a:xfrm>
          <a:prstGeom prst="rect">
            <a:avLst/>
          </a:prstGeom>
          <a:noFill/>
          <a:ln/>
        </p:spPr>
        <p:txBody>
          <a:bodyPr wrap="square" lIns="0" tIns="0" rIns="0" bIns="0" rtlCol="0" anchor="ctr"/>
          <a:lstStyle/>
          <a:p>
            <a:pPr algn="ctr" indent="0" marL="0">
              <a:buNone/>
            </a:pPr>
            <a:r>
              <a:rPr lang="en-US" sz="1200" b="1" dirty="0">
                <a:solidFill>
                  <a:srgbClr val="C8FF4D"/>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051560" y="1371600"/>
            <a:ext cx="3108960" cy="384048"/>
          </a:xfrm>
          <a:prstGeom prst="rect">
            <a:avLst/>
          </a:prstGeom>
          <a:noFill/>
          <a:ln/>
        </p:spPr>
        <p:txBody>
          <a:bodyPr wrap="square" lIns="0" tIns="0" rIns="0" bIns="0" rtlCol="0" anchor="ctr"/>
          <a:lstStyle/>
          <a:p>
            <a:pPr indent="0" marL="0">
              <a:buNone/>
            </a:pPr>
            <a:r>
              <a:rPr lang="en-US" sz="1600" dirty="0">
                <a:solidFill>
                  <a:srgbClr val="DBE3EA"/>
                </a:solidFill>
                <a:latin typeface="Calibri" pitchFamily="34" charset="0"/>
                <a:ea typeface="Calibri" pitchFamily="34" charset="-122"/>
                <a:cs typeface="Calibri" pitchFamily="34" charset="-120"/>
              </a:rPr>
              <a:t>Research</a:t>
            </a:r>
            <a:endParaRPr lang="en-US" sz="1600" dirty="0"/>
          </a:p>
        </p:txBody>
      </p:sp>
      <p:sp>
        <p:nvSpPr>
          <p:cNvPr id="10" name="Shape 7"/>
          <p:cNvSpPr/>
          <p:nvPr/>
        </p:nvSpPr>
        <p:spPr>
          <a:xfrm>
            <a:off x="502920" y="1938528"/>
            <a:ext cx="384048" cy="384048"/>
          </a:xfrm>
          <a:prstGeom prst="ellipse">
            <a:avLst/>
          </a:prstGeom>
          <a:solidFill>
            <a:srgbClr val="141C26"/>
          </a:solidFill>
          <a:ln w="19050">
            <a:solidFill>
              <a:srgbClr val="C8FF4D"/>
            </a:solidFill>
            <a:prstDash val="solid"/>
          </a:ln>
        </p:spPr>
      </p:sp>
      <p:sp>
        <p:nvSpPr>
          <p:cNvPr id="11" name="Text 8"/>
          <p:cNvSpPr txBox="1"/>
          <p:nvPr/>
        </p:nvSpPr>
        <p:spPr>
          <a:xfrm>
            <a:off x="502920" y="1938528"/>
            <a:ext cx="384048" cy="384048"/>
          </a:xfrm>
          <a:prstGeom prst="rect">
            <a:avLst/>
          </a:prstGeom>
          <a:noFill/>
          <a:ln/>
        </p:spPr>
        <p:txBody>
          <a:bodyPr wrap="square" lIns="0" tIns="0" rIns="0" bIns="0" rtlCol="0" anchor="ctr"/>
          <a:lstStyle/>
          <a:p>
            <a:pPr algn="ctr" indent="0" marL="0">
              <a:buNone/>
            </a:pPr>
            <a:r>
              <a:rPr lang="en-US" sz="1200" b="1" dirty="0">
                <a:solidFill>
                  <a:srgbClr val="C8FF4D"/>
                </a:solidFill>
                <a:latin typeface="Calibri" pitchFamily="34" charset="0"/>
                <a:ea typeface="Calibri" pitchFamily="34" charset="-122"/>
                <a:cs typeface="Calibri" pitchFamily="34" charset="-120"/>
              </a:rPr>
              <a:t>2</a:t>
            </a:r>
            <a:endParaRPr lang="en-US" sz="1200" dirty="0"/>
          </a:p>
        </p:txBody>
      </p:sp>
      <p:sp>
        <p:nvSpPr>
          <p:cNvPr id="12" name="Text 9"/>
          <p:cNvSpPr txBox="1"/>
          <p:nvPr/>
        </p:nvSpPr>
        <p:spPr>
          <a:xfrm>
            <a:off x="1051560" y="1938528"/>
            <a:ext cx="3108960" cy="384048"/>
          </a:xfrm>
          <a:prstGeom prst="rect">
            <a:avLst/>
          </a:prstGeom>
          <a:noFill/>
          <a:ln/>
        </p:spPr>
        <p:txBody>
          <a:bodyPr wrap="square" lIns="0" tIns="0" rIns="0" bIns="0" rtlCol="0" anchor="ctr"/>
          <a:lstStyle/>
          <a:p>
            <a:pPr indent="0" marL="0">
              <a:buNone/>
            </a:pPr>
            <a:r>
              <a:rPr lang="en-US" sz="1600" dirty="0">
                <a:solidFill>
                  <a:srgbClr val="DBE3EA"/>
                </a:solidFill>
                <a:latin typeface="Calibri" pitchFamily="34" charset="0"/>
                <a:ea typeface="Calibri" pitchFamily="34" charset="-122"/>
                <a:cs typeface="Calibri" pitchFamily="34" charset="-120"/>
              </a:rPr>
              <a:t>Test</a:t>
            </a:r>
            <a:endParaRPr lang="en-US" sz="1600" dirty="0"/>
          </a:p>
        </p:txBody>
      </p:sp>
      <p:sp>
        <p:nvSpPr>
          <p:cNvPr id="13" name="Shape 10"/>
          <p:cNvSpPr/>
          <p:nvPr/>
        </p:nvSpPr>
        <p:spPr>
          <a:xfrm>
            <a:off x="502920" y="2505456"/>
            <a:ext cx="384048" cy="384048"/>
          </a:xfrm>
          <a:prstGeom prst="ellipse">
            <a:avLst/>
          </a:prstGeom>
          <a:solidFill>
            <a:srgbClr val="141C26"/>
          </a:solidFill>
          <a:ln w="19050">
            <a:solidFill>
              <a:srgbClr val="C8FF4D"/>
            </a:solidFill>
            <a:prstDash val="solid"/>
          </a:ln>
        </p:spPr>
      </p:sp>
      <p:sp>
        <p:nvSpPr>
          <p:cNvPr id="14" name="Text 11"/>
          <p:cNvSpPr txBox="1"/>
          <p:nvPr/>
        </p:nvSpPr>
        <p:spPr>
          <a:xfrm>
            <a:off x="502920" y="2505456"/>
            <a:ext cx="384048" cy="384048"/>
          </a:xfrm>
          <a:prstGeom prst="rect">
            <a:avLst/>
          </a:prstGeom>
          <a:noFill/>
          <a:ln/>
        </p:spPr>
        <p:txBody>
          <a:bodyPr wrap="square" lIns="0" tIns="0" rIns="0" bIns="0" rtlCol="0" anchor="ctr"/>
          <a:lstStyle/>
          <a:p>
            <a:pPr algn="ctr" indent="0" marL="0">
              <a:buNone/>
            </a:pPr>
            <a:r>
              <a:rPr lang="en-US" sz="1200" b="1" dirty="0">
                <a:solidFill>
                  <a:srgbClr val="C8FF4D"/>
                </a:solidFill>
                <a:latin typeface="Calibri" pitchFamily="34" charset="0"/>
                <a:ea typeface="Calibri" pitchFamily="34" charset="-122"/>
                <a:cs typeface="Calibri" pitchFamily="34" charset="-120"/>
              </a:rPr>
              <a:t>3</a:t>
            </a:r>
            <a:endParaRPr lang="en-US" sz="1200" dirty="0"/>
          </a:p>
        </p:txBody>
      </p:sp>
      <p:sp>
        <p:nvSpPr>
          <p:cNvPr id="15" name="Text 12"/>
          <p:cNvSpPr txBox="1"/>
          <p:nvPr/>
        </p:nvSpPr>
        <p:spPr>
          <a:xfrm>
            <a:off x="1051560" y="2505456"/>
            <a:ext cx="3108960" cy="384048"/>
          </a:xfrm>
          <a:prstGeom prst="rect">
            <a:avLst/>
          </a:prstGeom>
          <a:noFill/>
          <a:ln/>
        </p:spPr>
        <p:txBody>
          <a:bodyPr wrap="square" lIns="0" tIns="0" rIns="0" bIns="0" rtlCol="0" anchor="ctr"/>
          <a:lstStyle/>
          <a:p>
            <a:pPr indent="0" marL="0">
              <a:buNone/>
            </a:pPr>
            <a:r>
              <a:rPr lang="en-US" sz="1600" dirty="0">
                <a:solidFill>
                  <a:srgbClr val="DBE3EA"/>
                </a:solidFill>
                <a:latin typeface="Calibri" pitchFamily="34" charset="0"/>
                <a:ea typeface="Calibri" pitchFamily="34" charset="-122"/>
                <a:cs typeface="Calibri" pitchFamily="34" charset="-120"/>
              </a:rPr>
              <a:t>Live trade</a:t>
            </a:r>
            <a:endParaRPr lang="en-US" sz="1600" dirty="0"/>
          </a:p>
        </p:txBody>
      </p:sp>
      <p:sp>
        <p:nvSpPr>
          <p:cNvPr id="16" name="Shape 13"/>
          <p:cNvSpPr/>
          <p:nvPr/>
        </p:nvSpPr>
        <p:spPr>
          <a:xfrm>
            <a:off x="502920" y="3072384"/>
            <a:ext cx="384048" cy="384048"/>
          </a:xfrm>
          <a:prstGeom prst="ellipse">
            <a:avLst/>
          </a:prstGeom>
          <a:solidFill>
            <a:srgbClr val="141C26"/>
          </a:solidFill>
          <a:ln w="19050">
            <a:solidFill>
              <a:srgbClr val="C8FF4D"/>
            </a:solidFill>
            <a:prstDash val="solid"/>
          </a:ln>
        </p:spPr>
      </p:sp>
      <p:sp>
        <p:nvSpPr>
          <p:cNvPr id="17" name="Text 14"/>
          <p:cNvSpPr txBox="1"/>
          <p:nvPr/>
        </p:nvSpPr>
        <p:spPr>
          <a:xfrm>
            <a:off x="502920" y="3072384"/>
            <a:ext cx="384048" cy="384048"/>
          </a:xfrm>
          <a:prstGeom prst="rect">
            <a:avLst/>
          </a:prstGeom>
          <a:noFill/>
          <a:ln/>
        </p:spPr>
        <p:txBody>
          <a:bodyPr wrap="square" lIns="0" tIns="0" rIns="0" bIns="0" rtlCol="0" anchor="ctr"/>
          <a:lstStyle/>
          <a:p>
            <a:pPr algn="ctr" indent="0" marL="0">
              <a:buNone/>
            </a:pPr>
            <a:r>
              <a:rPr lang="en-US" sz="1200" b="1" dirty="0">
                <a:solidFill>
                  <a:srgbClr val="C8FF4D"/>
                </a:solidFill>
                <a:latin typeface="Calibri" pitchFamily="34" charset="0"/>
                <a:ea typeface="Calibri" pitchFamily="34" charset="-122"/>
                <a:cs typeface="Calibri" pitchFamily="34" charset="-120"/>
              </a:rPr>
              <a:t>4</a:t>
            </a:r>
            <a:endParaRPr lang="en-US" sz="1200" dirty="0"/>
          </a:p>
        </p:txBody>
      </p:sp>
      <p:sp>
        <p:nvSpPr>
          <p:cNvPr id="18" name="Text 15"/>
          <p:cNvSpPr txBox="1"/>
          <p:nvPr/>
        </p:nvSpPr>
        <p:spPr>
          <a:xfrm>
            <a:off x="1051560" y="3072384"/>
            <a:ext cx="3108960" cy="384048"/>
          </a:xfrm>
          <a:prstGeom prst="rect">
            <a:avLst/>
          </a:prstGeom>
          <a:noFill/>
          <a:ln/>
        </p:spPr>
        <p:txBody>
          <a:bodyPr wrap="square" lIns="0" tIns="0" rIns="0" bIns="0" rtlCol="0" anchor="ctr"/>
          <a:lstStyle/>
          <a:p>
            <a:pPr indent="0" marL="0">
              <a:buNone/>
            </a:pPr>
            <a:r>
              <a:rPr lang="en-US" sz="1600" dirty="0">
                <a:solidFill>
                  <a:srgbClr val="DBE3EA"/>
                </a:solidFill>
                <a:latin typeface="Calibri" pitchFamily="34" charset="0"/>
                <a:ea typeface="Calibri" pitchFamily="34" charset="-122"/>
                <a:cs typeface="Calibri" pitchFamily="34" charset="-120"/>
              </a:rPr>
              <a:t>Monitor</a:t>
            </a:r>
            <a:endParaRPr lang="en-US" sz="1600" dirty="0"/>
          </a:p>
        </p:txBody>
      </p:sp>
      <p:sp>
        <p:nvSpPr>
          <p:cNvPr id="19" name="Shape 16"/>
          <p:cNvSpPr/>
          <p:nvPr/>
        </p:nvSpPr>
        <p:spPr>
          <a:xfrm>
            <a:off x="502920" y="3639312"/>
            <a:ext cx="384048" cy="384048"/>
          </a:xfrm>
          <a:prstGeom prst="ellipse">
            <a:avLst/>
          </a:prstGeom>
          <a:solidFill>
            <a:srgbClr val="141C26"/>
          </a:solidFill>
          <a:ln w="19050">
            <a:solidFill>
              <a:srgbClr val="FF5A5F"/>
            </a:solidFill>
            <a:prstDash val="solid"/>
          </a:ln>
        </p:spPr>
      </p:sp>
      <p:sp>
        <p:nvSpPr>
          <p:cNvPr id="20" name="Text 17"/>
          <p:cNvSpPr txBox="1"/>
          <p:nvPr/>
        </p:nvSpPr>
        <p:spPr>
          <a:xfrm>
            <a:off x="502920" y="3639312"/>
            <a:ext cx="384048" cy="384048"/>
          </a:xfrm>
          <a:prstGeom prst="rect">
            <a:avLst/>
          </a:prstGeom>
          <a:noFill/>
          <a:ln/>
        </p:spPr>
        <p:txBody>
          <a:bodyPr wrap="square" lIns="0" tIns="0" rIns="0" bIns="0" rtlCol="0" anchor="ctr"/>
          <a:lstStyle/>
          <a:p>
            <a:pPr algn="ctr" indent="0" marL="0">
              <a:buNone/>
            </a:pPr>
            <a:r>
              <a:rPr lang="en-US" sz="1200" b="1" dirty="0">
                <a:solidFill>
                  <a:srgbClr val="FF5A5F"/>
                </a:solidFill>
                <a:latin typeface="Calibri" pitchFamily="34" charset="0"/>
                <a:ea typeface="Calibri" pitchFamily="34" charset="-122"/>
                <a:cs typeface="Calibri" pitchFamily="34" charset="-120"/>
              </a:rPr>
              <a:t>5</a:t>
            </a:r>
            <a:endParaRPr lang="en-US" sz="1200" dirty="0"/>
          </a:p>
        </p:txBody>
      </p:sp>
      <p:sp>
        <p:nvSpPr>
          <p:cNvPr id="21" name="Text 18"/>
          <p:cNvSpPr txBox="1"/>
          <p:nvPr/>
        </p:nvSpPr>
        <p:spPr>
          <a:xfrm>
            <a:off x="1051560" y="3639312"/>
            <a:ext cx="3108960" cy="384048"/>
          </a:xfrm>
          <a:prstGeom prst="rect">
            <a:avLst/>
          </a:prstGeom>
          <a:noFill/>
          <a:ln/>
        </p:spPr>
        <p:txBody>
          <a:bodyPr wrap="square" lIns="0" tIns="0" rIns="0" bIns="0" rtlCol="0" anchor="ctr"/>
          <a:lstStyle/>
          <a:p>
            <a:pPr indent="0" marL="0">
              <a:buNone/>
            </a:pPr>
            <a:r>
              <a:rPr lang="en-US" sz="1600" dirty="0">
                <a:solidFill>
                  <a:srgbClr val="DBE3EA"/>
                </a:solidFill>
                <a:latin typeface="Calibri" pitchFamily="34" charset="0"/>
                <a:ea typeface="Calibri" pitchFamily="34" charset="-122"/>
                <a:cs typeface="Calibri" pitchFamily="34" charset="-120"/>
              </a:rPr>
              <a:t>Improve ya remove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b="1" spc="300" kern="0" dirty="0">
                <a:solidFill>
                  <a:srgbClr val="C8FF4D"/>
                </a:solidFill>
                <a:latin typeface="Calibri" pitchFamily="34" charset="0"/>
                <a:ea typeface="Calibri" pitchFamily="34" charset="-122"/>
                <a:cs typeface="Calibri" pitchFamily="34" charset="-120"/>
              </a:rPr>
              <a:t>CHAPTER 03 · REALITY CHECK</a:t>
            </a:r>
            <a:endParaRPr lang="en-US" sz="10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dirty="0">
                <a:solidFill>
                  <a:srgbClr val="DBE3EA"/>
                </a:solidFill>
                <a:latin typeface="Cambria" pitchFamily="34" charset="0"/>
                <a:ea typeface="Cambria" pitchFamily="34" charset="-122"/>
                <a:cs typeface="Cambria" pitchFamily="34" charset="-120"/>
              </a:rPr>
              <a:t>Medallion ko copy nahi kiya ja sakta</a:t>
            </a:r>
            <a:endParaRPr lang="en-US" sz="2800" dirty="0"/>
          </a:p>
        </p:txBody>
      </p:sp>
      <p:sp>
        <p:nvSpPr>
          <p:cNvPr id="4" name="Text 2"/>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8A97A4"/>
                </a:solidFill>
                <a:latin typeface="Calibri" pitchFamily="34" charset="0"/>
                <a:ea typeface="Calibri" pitchFamily="34" charset="-122"/>
                <a:cs typeface="Calibri" pitchFamily="34" charset="-120"/>
              </a:rPr>
              <a:t>10</a:t>
            </a:r>
            <a:endParaRPr lang="en-US" sz="900" dirty="0"/>
          </a:p>
        </p:txBody>
      </p:sp>
      <p:sp>
        <p:nvSpPr>
          <p:cNvPr id="5" name="Text 3"/>
          <p:cNvSpPr txBox="1"/>
          <p:nvPr/>
        </p:nvSpPr>
        <p:spPr>
          <a:xfrm>
            <a:off x="457200" y="1371600"/>
            <a:ext cx="3840480" cy="3291840"/>
          </a:xfrm>
          <a:prstGeom prst="rect">
            <a:avLst/>
          </a:prstGeom>
          <a:noFill/>
          <a:ln/>
        </p:spPr>
        <p:txBody>
          <a:bodyPr wrap="square" lIns="0" tIns="0" rIns="0" bIns="0" rtlCol="0" anchor="t"/>
          <a:lstStyle/>
          <a:p>
            <a:pPr indent="0" marL="0">
              <a:spcAft>
                <a:spcPts val="900"/>
              </a:spcAft>
              <a:buNone/>
            </a:pPr>
            <a:r>
              <a:rPr lang="en-US" sz="1400" b="1" dirty="0">
                <a:solidFill>
                  <a:srgbClr val="C8FF4D"/>
                </a:solidFill>
                <a:latin typeface="Calibri" pitchFamily="34" charset="0"/>
                <a:ea typeface="Calibri" pitchFamily="34" charset="-122"/>
                <a:cs typeface="Calibri" pitchFamily="34" charset="-120"/>
              </a:rPr>
              <a:t>→ </a:t>
            </a:r>
            <a:pPr indent="0" marL="0">
              <a:spcAft>
                <a:spcPts val="900"/>
              </a:spcAft>
              <a:buNone/>
            </a:pPr>
            <a:r>
              <a:rPr lang="en-US" sz="1400" dirty="0">
                <a:solidFill>
                  <a:srgbClr val="DBE3EA"/>
                </a:solidFill>
                <a:latin typeface="Calibri" pitchFamily="34" charset="0"/>
                <a:ea typeface="Calibri" pitchFamily="34" charset="-122"/>
                <a:cs typeface="Calibri" pitchFamily="34" charset="-120"/>
              </a:rPr>
              <a:t>Retail trader Medallion ki performance replicate nahi kar sakta</a:t>
            </a:r>
            <a:endParaRPr lang="en-US" sz="1400" dirty="0"/>
          </a:p>
          <a:p>
            <a:pPr indent="0" marL="0">
              <a:spcAft>
                <a:spcPts val="900"/>
              </a:spcAft>
              <a:buNone/>
            </a:pPr>
            <a:r>
              <a:rPr lang="en-US" sz="1400" b="1" dirty="0">
                <a:solidFill>
                  <a:srgbClr val="C8FF4D"/>
                </a:solidFill>
                <a:latin typeface="Calibri" pitchFamily="34" charset="0"/>
                <a:ea typeface="Calibri" pitchFamily="34" charset="-122"/>
                <a:cs typeface="Calibri" pitchFamily="34" charset="-120"/>
              </a:rPr>
              <a:t>→ </a:t>
            </a:r>
            <a:pPr indent="0" marL="0">
              <a:spcAft>
                <a:spcPts val="900"/>
              </a:spcAft>
              <a:buNone/>
            </a:pPr>
            <a:r>
              <a:rPr lang="en-US" sz="1400" dirty="0">
                <a:solidFill>
                  <a:srgbClr val="DBE3EA"/>
                </a:solidFill>
                <a:latin typeface="Calibri" pitchFamily="34" charset="0"/>
                <a:ea typeface="Calibri" pitchFamily="34" charset="-122"/>
                <a:cs typeface="Calibri" pitchFamily="34" charset="-120"/>
              </a:rPr>
              <a:t>Models proprietary hain — publicly available nahi</a:t>
            </a:r>
            <a:endParaRPr lang="en-US" sz="1400" dirty="0"/>
          </a:p>
          <a:p>
            <a:pPr indent="0" marL="0">
              <a:spcAft>
                <a:spcPts val="900"/>
              </a:spcAft>
              <a:buNone/>
            </a:pPr>
            <a:r>
              <a:rPr lang="en-US" sz="1400" b="1" dirty="0">
                <a:solidFill>
                  <a:srgbClr val="C8FF4D"/>
                </a:solidFill>
                <a:latin typeface="Calibri" pitchFamily="34" charset="0"/>
                <a:ea typeface="Calibri" pitchFamily="34" charset="-122"/>
                <a:cs typeface="Calibri" pitchFamily="34" charset="-120"/>
              </a:rPr>
              <a:t>→ </a:t>
            </a:r>
            <a:pPr indent="0" marL="0">
              <a:spcAft>
                <a:spcPts val="900"/>
              </a:spcAft>
              <a:buNone/>
            </a:pPr>
            <a:r>
              <a:rPr lang="en-US" sz="1400" dirty="0">
                <a:solidFill>
                  <a:srgbClr val="DBE3EA"/>
                </a:solidFill>
                <a:latin typeface="Calibri" pitchFamily="34" charset="0"/>
                <a:ea typeface="Calibri" pitchFamily="34" charset="-122"/>
                <a:cs typeface="Calibri" pitchFamily="34" charset="-120"/>
              </a:rPr>
              <a:t>Renaissance ke paas technology, scale aur highly skilled researchers the</a:t>
            </a:r>
            <a:endParaRPr lang="en-US" sz="1400" dirty="0"/>
          </a:p>
          <a:p>
            <a:pPr indent="0" marL="0">
              <a:spcAft>
                <a:spcPts val="900"/>
              </a:spcAft>
              <a:buNone/>
            </a:pPr>
            <a:r>
              <a:rPr lang="en-US" sz="1400" b="1" dirty="0">
                <a:solidFill>
                  <a:srgbClr val="C8FF4D"/>
                </a:solidFill>
                <a:latin typeface="Calibri" pitchFamily="34" charset="0"/>
                <a:ea typeface="Calibri" pitchFamily="34" charset="-122"/>
                <a:cs typeface="Calibri" pitchFamily="34" charset="-120"/>
              </a:rPr>
              <a:t>Takeaway: </a:t>
            </a:r>
            <a:pPr indent="0" marL="0">
              <a:spcAft>
                <a:spcPts val="900"/>
              </a:spcAft>
              <a:buNone/>
            </a:pPr>
            <a:r>
              <a:rPr lang="en-US" sz="1400" dirty="0">
                <a:solidFill>
                  <a:srgbClr val="DBE3EA"/>
                </a:solidFill>
                <a:latin typeface="Calibri" pitchFamily="34" charset="0"/>
                <a:ea typeface="Calibri" pitchFamily="34" charset="-122"/>
                <a:cs typeface="Calibri" pitchFamily="34" charset="-120"/>
              </a:rPr>
              <a:t>principles ko learning framework ki tarah dekho, copy karne wali strategy ki tarah nahi</a:t>
            </a:r>
            <a:endParaRPr lang="en-US" sz="1400" dirty="0"/>
          </a:p>
        </p:txBody>
      </p:sp>
      <p:sp>
        <p:nvSpPr>
          <p:cNvPr id="6" name="Shape 4"/>
          <p:cNvSpPr/>
          <p:nvPr/>
        </p:nvSpPr>
        <p:spPr>
          <a:xfrm>
            <a:off x="4507992" y="1353312"/>
            <a:ext cx="4197096" cy="2376869"/>
          </a:xfrm>
          <a:prstGeom prst="rect">
            <a:avLst/>
          </a:prstGeom>
          <a:solidFill>
            <a:srgbClr val="2A3542"/>
          </a:solidFill>
          <a:ln w="12700">
            <a:solidFill>
              <a:srgbClr val="2A3542"/>
            </a:solidFill>
            <a:prstDash val="solid"/>
          </a:ln>
          <a:effectLst>
            <a:outerShdw sx="100000" sy="100000" kx="0" ky="0" algn="bl" rotWithShape="0" blurRad="152400" dist="38100" dir="5400000">
              <a:srgbClr val="000000">
                <a:alpha val="45000"/>
              </a:srgbClr>
            </a:outerShdw>
          </a:effectLst>
        </p:spPr>
      </p:sp>
      <p:pic>
        <p:nvPicPr>
          <p:cNvPr id="7" name="Image 0" descr="Video frame, scene S13">    </p:cNvPr>
          <p:cNvPicPr>
            <a:picLocks noChangeAspect="1"/>
          </p:cNvPicPr>
          <p:nvPr/>
        </p:nvPicPr>
        <p:blipFill>
          <a:blip r:embed="rId1"/>
          <a:stretch>
            <a:fillRect/>
          </a:stretch>
        </p:blipFill>
        <p:spPr>
          <a:xfrm>
            <a:off x="4526280" y="1371600"/>
            <a:ext cx="4160520" cy="234029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b="1" spc="300" kern="0" dirty="0">
                <a:solidFill>
                  <a:srgbClr val="C8FF4D"/>
                </a:solidFill>
                <a:latin typeface="Calibri" pitchFamily="34" charset="0"/>
                <a:ea typeface="Calibri" pitchFamily="34" charset="-122"/>
                <a:cs typeface="Calibri" pitchFamily="34" charset="-120"/>
              </a:rPr>
              <a:t>CHAPTER 04 · PRINCIPLES YOU CAN USE</a:t>
            </a:r>
            <a:endParaRPr lang="en-US" sz="10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dirty="0">
                <a:solidFill>
                  <a:srgbClr val="DBE3EA"/>
                </a:solidFill>
                <a:latin typeface="Cambria" pitchFamily="34" charset="0"/>
                <a:ea typeface="Cambria" pitchFamily="34" charset="-122"/>
                <a:cs typeface="Cambria" pitchFamily="34" charset="-120"/>
              </a:rPr>
              <a:t>Rules aur evidence</a:t>
            </a:r>
            <a:endParaRPr lang="en-US" sz="2800" dirty="0"/>
          </a:p>
        </p:txBody>
      </p:sp>
      <p:sp>
        <p:nvSpPr>
          <p:cNvPr id="4" name="Text 2"/>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8A97A4"/>
                </a:solidFill>
                <a:latin typeface="Calibri" pitchFamily="34" charset="0"/>
                <a:ea typeface="Calibri" pitchFamily="34" charset="-122"/>
                <a:cs typeface="Calibri" pitchFamily="34" charset="-120"/>
              </a:rPr>
              <a:t>11</a:t>
            </a:r>
            <a:endParaRPr lang="en-US" sz="900" dirty="0"/>
          </a:p>
        </p:txBody>
      </p:sp>
      <p:sp>
        <p:nvSpPr>
          <p:cNvPr id="5" name="Shape 3"/>
          <p:cNvSpPr/>
          <p:nvPr/>
        </p:nvSpPr>
        <p:spPr>
          <a:xfrm>
            <a:off x="438912" y="1261872"/>
            <a:ext cx="4014216" cy="2273999"/>
          </a:xfrm>
          <a:prstGeom prst="rect">
            <a:avLst/>
          </a:prstGeom>
          <a:solidFill>
            <a:srgbClr val="2A3542"/>
          </a:solidFill>
          <a:ln w="12700">
            <a:solidFill>
              <a:srgbClr val="2A3542"/>
            </a:solidFill>
            <a:prstDash val="solid"/>
          </a:ln>
          <a:effectLst>
            <a:outerShdw sx="100000" sy="100000" kx="0" ky="0" algn="bl" rotWithShape="0" blurRad="152400" dist="38100" dir="5400000">
              <a:srgbClr val="000000">
                <a:alpha val="45000"/>
              </a:srgbClr>
            </a:outerShdw>
          </a:effectLst>
        </p:spPr>
      </p:sp>
      <p:pic>
        <p:nvPicPr>
          <p:cNvPr id="6" name="Image 0" descr="Video frame, scene S14">    </p:cNvPr>
          <p:cNvPicPr>
            <a:picLocks noChangeAspect="1"/>
          </p:cNvPicPr>
          <p:nvPr/>
        </p:nvPicPr>
        <p:blipFill>
          <a:blip r:embed="rId1"/>
          <a:stretch>
            <a:fillRect/>
          </a:stretch>
        </p:blipFill>
        <p:spPr>
          <a:xfrm>
            <a:off x="457200" y="1280160"/>
            <a:ext cx="3977640" cy="2237423"/>
          </a:xfrm>
          <a:prstGeom prst="rect">
            <a:avLst/>
          </a:prstGeom>
        </p:spPr>
      </p:pic>
      <p:sp>
        <p:nvSpPr>
          <p:cNvPr id="7" name="Shape 4"/>
          <p:cNvSpPr/>
          <p:nvPr/>
        </p:nvSpPr>
        <p:spPr>
          <a:xfrm>
            <a:off x="4690872" y="1261872"/>
            <a:ext cx="4014216" cy="2273999"/>
          </a:xfrm>
          <a:prstGeom prst="rect">
            <a:avLst/>
          </a:prstGeom>
          <a:solidFill>
            <a:srgbClr val="2A3542"/>
          </a:solidFill>
          <a:ln w="12700">
            <a:solidFill>
              <a:srgbClr val="2A3542"/>
            </a:solidFill>
            <a:prstDash val="solid"/>
          </a:ln>
          <a:effectLst>
            <a:outerShdw sx="100000" sy="100000" kx="0" ky="0" algn="bl" rotWithShape="0" blurRad="152400" dist="38100" dir="5400000">
              <a:srgbClr val="000000">
                <a:alpha val="45000"/>
              </a:srgbClr>
            </a:outerShdw>
          </a:effectLst>
        </p:spPr>
      </p:sp>
      <p:pic>
        <p:nvPicPr>
          <p:cNvPr id="8" name="Image 1" descr="Video frame, scene S15">    </p:cNvPr>
          <p:cNvPicPr>
            <a:picLocks noChangeAspect="1"/>
          </p:cNvPicPr>
          <p:nvPr/>
        </p:nvPicPr>
        <p:blipFill>
          <a:blip r:embed="rId2"/>
          <a:stretch>
            <a:fillRect/>
          </a:stretch>
        </p:blipFill>
        <p:spPr>
          <a:xfrm>
            <a:off x="4709160" y="1280160"/>
            <a:ext cx="3977640" cy="2237423"/>
          </a:xfrm>
          <a:prstGeom prst="rect">
            <a:avLst/>
          </a:prstGeom>
        </p:spPr>
      </p:pic>
      <p:sp>
        <p:nvSpPr>
          <p:cNvPr id="9" name="Text 5"/>
          <p:cNvSpPr txBox="1"/>
          <p:nvPr/>
        </p:nvSpPr>
        <p:spPr>
          <a:xfrm>
            <a:off x="457200" y="3611880"/>
            <a:ext cx="3977640" cy="274320"/>
          </a:xfrm>
          <a:prstGeom prst="rect">
            <a:avLst/>
          </a:prstGeom>
          <a:noFill/>
          <a:ln/>
        </p:spPr>
        <p:txBody>
          <a:bodyPr wrap="square" lIns="0" tIns="0" rIns="0" bIns="0" rtlCol="0" anchor="ctr"/>
          <a:lstStyle/>
          <a:p>
            <a:pPr indent="0" marL="0">
              <a:buNone/>
            </a:pPr>
            <a:r>
              <a:rPr lang="en-US" sz="1300" b="1" dirty="0">
                <a:solidFill>
                  <a:srgbClr val="C8FF4D"/>
                </a:solidFill>
                <a:latin typeface="Calibri" pitchFamily="34" charset="0"/>
                <a:ea typeface="Calibri" pitchFamily="34" charset="-122"/>
                <a:cs typeface="Calibri" pitchFamily="34" charset="-120"/>
              </a:rPr>
              <a:t>1 · Rules &gt; judgement</a:t>
            </a:r>
            <a:endParaRPr lang="en-US" sz="1300" dirty="0"/>
          </a:p>
        </p:txBody>
      </p:sp>
      <p:sp>
        <p:nvSpPr>
          <p:cNvPr id="10" name="Text 6"/>
          <p:cNvSpPr txBox="1"/>
          <p:nvPr/>
        </p:nvSpPr>
        <p:spPr>
          <a:xfrm>
            <a:off x="457200" y="3904488"/>
            <a:ext cx="3977640" cy="457200"/>
          </a:xfrm>
          <a:prstGeom prst="rect">
            <a:avLst/>
          </a:prstGeom>
          <a:noFill/>
          <a:ln/>
        </p:spPr>
        <p:txBody>
          <a:bodyPr wrap="square" lIns="0" tIns="0" rIns="0" bIns="0" rtlCol="0" anchor="t"/>
          <a:lstStyle/>
          <a:p>
            <a:pPr indent="0" marL="0">
              <a:buNone/>
            </a:pPr>
            <a:r>
              <a:rPr lang="en-US" sz="1200" dirty="0">
                <a:solidFill>
                  <a:srgbClr val="DBE3EA"/>
                </a:solidFill>
                <a:latin typeface="Calibri" pitchFamily="34" charset="0"/>
                <a:ea typeface="Calibri" pitchFamily="34" charset="-122"/>
                <a:cs typeface="Calibri" pitchFamily="34" charset="-120"/>
              </a:rPr>
              <a:t>Entry, exit, stop loss, position size pehle se define karo</a:t>
            </a:r>
            <a:endParaRPr lang="en-US" sz="1200" dirty="0"/>
          </a:p>
        </p:txBody>
      </p:sp>
      <p:sp>
        <p:nvSpPr>
          <p:cNvPr id="11" name="Text 7"/>
          <p:cNvSpPr txBox="1"/>
          <p:nvPr/>
        </p:nvSpPr>
        <p:spPr>
          <a:xfrm>
            <a:off x="4709160" y="3611880"/>
            <a:ext cx="3977640" cy="274320"/>
          </a:xfrm>
          <a:prstGeom prst="rect">
            <a:avLst/>
          </a:prstGeom>
          <a:noFill/>
          <a:ln/>
        </p:spPr>
        <p:txBody>
          <a:bodyPr wrap="square" lIns="0" tIns="0" rIns="0" bIns="0" rtlCol="0" anchor="ctr"/>
          <a:lstStyle/>
          <a:p>
            <a:pPr indent="0" marL="0">
              <a:buNone/>
            </a:pPr>
            <a:r>
              <a:rPr lang="en-US" sz="1300" b="1" dirty="0">
                <a:solidFill>
                  <a:srgbClr val="C8FF4D"/>
                </a:solidFill>
                <a:latin typeface="Calibri" pitchFamily="34" charset="0"/>
                <a:ea typeface="Calibri" pitchFamily="34" charset="-122"/>
                <a:cs typeface="Calibri" pitchFamily="34" charset="-120"/>
              </a:rPr>
              <a:t>2 · Data &amp; evidence &gt; narrative</a:t>
            </a:r>
            <a:endParaRPr lang="en-US" sz="1300" dirty="0"/>
          </a:p>
        </p:txBody>
      </p:sp>
      <p:sp>
        <p:nvSpPr>
          <p:cNvPr id="12" name="Text 8"/>
          <p:cNvSpPr txBox="1"/>
          <p:nvPr/>
        </p:nvSpPr>
        <p:spPr>
          <a:xfrm>
            <a:off x="4709160" y="3904488"/>
            <a:ext cx="3977640" cy="457200"/>
          </a:xfrm>
          <a:prstGeom prst="rect">
            <a:avLst/>
          </a:prstGeom>
          <a:noFill/>
          <a:ln/>
        </p:spPr>
        <p:txBody>
          <a:bodyPr wrap="square" lIns="0" tIns="0" rIns="0" bIns="0" rtlCol="0" anchor="t"/>
          <a:lstStyle/>
          <a:p>
            <a:pPr indent="0" marL="0">
              <a:buNone/>
            </a:pPr>
            <a:r>
              <a:rPr lang="en-US" sz="1200" dirty="0">
                <a:solidFill>
                  <a:srgbClr val="DBE3EA"/>
                </a:solidFill>
                <a:latin typeface="Calibri" pitchFamily="34" charset="0"/>
                <a:ea typeface="Calibri" pitchFamily="34" charset="-122"/>
                <a:cs typeface="Calibri" pitchFamily="34" charset="-120"/>
              </a:rPr>
              <a:t>Backtest karo — lekin backtest guarantee nahi, baseline hai</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b="1" spc="300" kern="0" dirty="0">
                <a:solidFill>
                  <a:srgbClr val="C8FF4D"/>
                </a:solidFill>
                <a:latin typeface="Calibri" pitchFamily="34" charset="0"/>
                <a:ea typeface="Calibri" pitchFamily="34" charset="-122"/>
                <a:cs typeface="Calibri" pitchFamily="34" charset="-120"/>
              </a:rPr>
              <a:t>CHAPTER 04 · PRINCIPLES YOU CAN USE</a:t>
            </a:r>
            <a:endParaRPr lang="en-US" sz="10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dirty="0">
                <a:solidFill>
                  <a:srgbClr val="DBE3EA"/>
                </a:solidFill>
                <a:latin typeface="Cambria" pitchFamily="34" charset="0"/>
                <a:ea typeface="Cambria" pitchFamily="34" charset="-122"/>
                <a:cs typeface="Cambria" pitchFamily="34" charset="-120"/>
              </a:rPr>
              <a:t>Risk aur diversification</a:t>
            </a:r>
            <a:endParaRPr lang="en-US" sz="2800" dirty="0"/>
          </a:p>
        </p:txBody>
      </p:sp>
      <p:sp>
        <p:nvSpPr>
          <p:cNvPr id="4" name="Text 2"/>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8A97A4"/>
                </a:solidFill>
                <a:latin typeface="Calibri" pitchFamily="34" charset="0"/>
                <a:ea typeface="Calibri" pitchFamily="34" charset="-122"/>
                <a:cs typeface="Calibri" pitchFamily="34" charset="-120"/>
              </a:rPr>
              <a:t>12</a:t>
            </a:r>
            <a:endParaRPr lang="en-US" sz="900" dirty="0"/>
          </a:p>
        </p:txBody>
      </p:sp>
      <p:sp>
        <p:nvSpPr>
          <p:cNvPr id="5" name="Shape 3"/>
          <p:cNvSpPr/>
          <p:nvPr/>
        </p:nvSpPr>
        <p:spPr>
          <a:xfrm>
            <a:off x="438912" y="1261872"/>
            <a:ext cx="4014216" cy="2273999"/>
          </a:xfrm>
          <a:prstGeom prst="rect">
            <a:avLst/>
          </a:prstGeom>
          <a:solidFill>
            <a:srgbClr val="2A3542"/>
          </a:solidFill>
          <a:ln w="12700">
            <a:solidFill>
              <a:srgbClr val="2A3542"/>
            </a:solidFill>
            <a:prstDash val="solid"/>
          </a:ln>
          <a:effectLst>
            <a:outerShdw sx="100000" sy="100000" kx="0" ky="0" algn="bl" rotWithShape="0" blurRad="152400" dist="38100" dir="5400000">
              <a:srgbClr val="000000">
                <a:alpha val="45000"/>
              </a:srgbClr>
            </a:outerShdw>
          </a:effectLst>
        </p:spPr>
      </p:sp>
      <p:pic>
        <p:nvPicPr>
          <p:cNvPr id="6" name="Image 0" descr="Video frame, scene S16">    </p:cNvPr>
          <p:cNvPicPr>
            <a:picLocks noChangeAspect="1"/>
          </p:cNvPicPr>
          <p:nvPr/>
        </p:nvPicPr>
        <p:blipFill>
          <a:blip r:embed="rId1"/>
          <a:stretch>
            <a:fillRect/>
          </a:stretch>
        </p:blipFill>
        <p:spPr>
          <a:xfrm>
            <a:off x="457200" y="1280160"/>
            <a:ext cx="3977640" cy="2237423"/>
          </a:xfrm>
          <a:prstGeom prst="rect">
            <a:avLst/>
          </a:prstGeom>
        </p:spPr>
      </p:pic>
      <p:sp>
        <p:nvSpPr>
          <p:cNvPr id="7" name="Shape 4"/>
          <p:cNvSpPr/>
          <p:nvPr/>
        </p:nvSpPr>
        <p:spPr>
          <a:xfrm>
            <a:off x="4690872" y="1261872"/>
            <a:ext cx="4014216" cy="2273999"/>
          </a:xfrm>
          <a:prstGeom prst="rect">
            <a:avLst/>
          </a:prstGeom>
          <a:solidFill>
            <a:srgbClr val="2A3542"/>
          </a:solidFill>
          <a:ln w="12700">
            <a:solidFill>
              <a:srgbClr val="2A3542"/>
            </a:solidFill>
            <a:prstDash val="solid"/>
          </a:ln>
          <a:effectLst>
            <a:outerShdw sx="100000" sy="100000" kx="0" ky="0" algn="bl" rotWithShape="0" blurRad="152400" dist="38100" dir="5400000">
              <a:srgbClr val="000000">
                <a:alpha val="45000"/>
              </a:srgbClr>
            </a:outerShdw>
          </a:effectLst>
        </p:spPr>
      </p:sp>
      <p:pic>
        <p:nvPicPr>
          <p:cNvPr id="8" name="Image 1" descr="Video frame, scene S17">    </p:cNvPr>
          <p:cNvPicPr>
            <a:picLocks noChangeAspect="1"/>
          </p:cNvPicPr>
          <p:nvPr/>
        </p:nvPicPr>
        <p:blipFill>
          <a:blip r:embed="rId2"/>
          <a:stretch>
            <a:fillRect/>
          </a:stretch>
        </p:blipFill>
        <p:spPr>
          <a:xfrm>
            <a:off x="4709160" y="1280160"/>
            <a:ext cx="3977640" cy="2237423"/>
          </a:xfrm>
          <a:prstGeom prst="rect">
            <a:avLst/>
          </a:prstGeom>
        </p:spPr>
      </p:pic>
      <p:sp>
        <p:nvSpPr>
          <p:cNvPr id="9" name="Text 5"/>
          <p:cNvSpPr txBox="1"/>
          <p:nvPr/>
        </p:nvSpPr>
        <p:spPr>
          <a:xfrm>
            <a:off x="457200" y="3611880"/>
            <a:ext cx="3977640" cy="274320"/>
          </a:xfrm>
          <a:prstGeom prst="rect">
            <a:avLst/>
          </a:prstGeom>
          <a:noFill/>
          <a:ln/>
        </p:spPr>
        <p:txBody>
          <a:bodyPr wrap="square" lIns="0" tIns="0" rIns="0" bIns="0" rtlCol="0" anchor="ctr"/>
          <a:lstStyle/>
          <a:p>
            <a:pPr indent="0" marL="0">
              <a:buNone/>
            </a:pPr>
            <a:r>
              <a:rPr lang="en-US" sz="1300" b="1" dirty="0">
                <a:solidFill>
                  <a:srgbClr val="C8FF4D"/>
                </a:solidFill>
                <a:latin typeface="Calibri" pitchFamily="34" charset="0"/>
                <a:ea typeface="Calibri" pitchFamily="34" charset="-122"/>
                <a:cs typeface="Calibri" pitchFamily="34" charset="-120"/>
              </a:rPr>
              <a:t>3 · Risk management non-negotiable</a:t>
            </a:r>
            <a:endParaRPr lang="en-US" sz="1300" dirty="0"/>
          </a:p>
        </p:txBody>
      </p:sp>
      <p:sp>
        <p:nvSpPr>
          <p:cNvPr id="10" name="Text 6"/>
          <p:cNvSpPr txBox="1"/>
          <p:nvPr/>
        </p:nvSpPr>
        <p:spPr>
          <a:xfrm>
            <a:off x="457200" y="3904488"/>
            <a:ext cx="3977640" cy="457200"/>
          </a:xfrm>
          <a:prstGeom prst="rect">
            <a:avLst/>
          </a:prstGeom>
          <a:noFill/>
          <a:ln/>
        </p:spPr>
        <p:txBody>
          <a:bodyPr wrap="square" lIns="0" tIns="0" rIns="0" bIns="0" rtlCol="0" anchor="t"/>
          <a:lstStyle/>
          <a:p>
            <a:pPr indent="0" marL="0">
              <a:buNone/>
            </a:pPr>
            <a:r>
              <a:rPr lang="en-US" sz="1200" dirty="0">
                <a:solidFill>
                  <a:srgbClr val="DBE3EA"/>
                </a:solidFill>
                <a:latin typeface="Calibri" pitchFamily="34" charset="0"/>
                <a:ea typeface="Calibri" pitchFamily="34" charset="-122"/>
                <a:cs typeface="Calibri" pitchFamily="34" charset="-120"/>
              </a:rPr>
              <a:t>Har trade + daily/weekly max loss; winning streak mein risk mat badhao</a:t>
            </a:r>
            <a:endParaRPr lang="en-US" sz="1200" dirty="0"/>
          </a:p>
        </p:txBody>
      </p:sp>
      <p:sp>
        <p:nvSpPr>
          <p:cNvPr id="11" name="Text 7"/>
          <p:cNvSpPr txBox="1"/>
          <p:nvPr/>
        </p:nvSpPr>
        <p:spPr>
          <a:xfrm>
            <a:off x="4709160" y="3611880"/>
            <a:ext cx="3977640" cy="274320"/>
          </a:xfrm>
          <a:prstGeom prst="rect">
            <a:avLst/>
          </a:prstGeom>
          <a:noFill/>
          <a:ln/>
        </p:spPr>
        <p:txBody>
          <a:bodyPr wrap="square" lIns="0" tIns="0" rIns="0" bIns="0" rtlCol="0" anchor="ctr"/>
          <a:lstStyle/>
          <a:p>
            <a:pPr indent="0" marL="0">
              <a:buNone/>
            </a:pPr>
            <a:r>
              <a:rPr lang="en-US" sz="1300" b="1" dirty="0">
                <a:solidFill>
                  <a:srgbClr val="C8FF4D"/>
                </a:solidFill>
                <a:latin typeface="Calibri" pitchFamily="34" charset="0"/>
                <a:ea typeface="Calibri" pitchFamily="34" charset="-122"/>
                <a:cs typeface="Calibri" pitchFamily="34" charset="-120"/>
              </a:rPr>
              <a:t>4 · Diversify karo</a:t>
            </a:r>
            <a:endParaRPr lang="en-US" sz="1300" dirty="0"/>
          </a:p>
        </p:txBody>
      </p:sp>
      <p:sp>
        <p:nvSpPr>
          <p:cNvPr id="12" name="Text 8"/>
          <p:cNvSpPr txBox="1"/>
          <p:nvPr/>
        </p:nvSpPr>
        <p:spPr>
          <a:xfrm>
            <a:off x="4709160" y="3904488"/>
            <a:ext cx="3977640" cy="457200"/>
          </a:xfrm>
          <a:prstGeom prst="rect">
            <a:avLst/>
          </a:prstGeom>
          <a:noFill/>
          <a:ln/>
        </p:spPr>
        <p:txBody>
          <a:bodyPr wrap="square" lIns="0" tIns="0" rIns="0" bIns="0" rtlCol="0" anchor="t"/>
          <a:lstStyle/>
          <a:p>
            <a:pPr indent="0" marL="0">
              <a:buNone/>
            </a:pPr>
            <a:r>
              <a:rPr lang="en-US" sz="1200" dirty="0">
                <a:solidFill>
                  <a:srgbClr val="DBE3EA"/>
                </a:solidFill>
                <a:latin typeface="Calibri" pitchFamily="34" charset="0"/>
                <a:ea typeface="Calibri" pitchFamily="34" charset="-122"/>
                <a:cs typeface="Calibri" pitchFamily="34" charset="-120"/>
              </a:rPr>
              <a:t>Ek instrument ya ek strategy par poori tarah dependent mat raho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F1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b="1" spc="300" kern="0" dirty="0">
                <a:solidFill>
                  <a:srgbClr val="C8FF4D"/>
                </a:solidFill>
                <a:latin typeface="Calibri" pitchFamily="34" charset="0"/>
                <a:ea typeface="Calibri" pitchFamily="34" charset="-122"/>
                <a:cs typeface="Calibri" pitchFamily="34" charset="-120"/>
              </a:rPr>
              <a:t>CHAPTER 05 · THE QUANT TOOLKIT</a:t>
            </a:r>
            <a:endParaRPr lang="en-US" sz="10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dirty="0">
                <a:solidFill>
                  <a:srgbClr val="DBE3EA"/>
                </a:solidFill>
                <a:latin typeface="Cambria" pitchFamily="34" charset="0"/>
                <a:ea typeface="Cambria" pitchFamily="34" charset="-122"/>
                <a:cs typeface="Cambria" pitchFamily="34" charset="-120"/>
              </a:rPr>
              <a:t>Quantitative strategies ke 4 types</a:t>
            </a:r>
            <a:endParaRPr lang="en-US" sz="2800" dirty="0"/>
          </a:p>
        </p:txBody>
      </p:sp>
      <p:sp>
        <p:nvSpPr>
          <p:cNvPr id="4" name="Text 2"/>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8A97A4"/>
                </a:solidFill>
                <a:latin typeface="Calibri" pitchFamily="34" charset="0"/>
                <a:ea typeface="Calibri" pitchFamily="34" charset="-122"/>
                <a:cs typeface="Calibri" pitchFamily="34" charset="-120"/>
              </a:rPr>
              <a:t>13</a:t>
            </a:r>
            <a:endParaRPr lang="en-US" sz="900" dirty="0"/>
          </a:p>
        </p:txBody>
      </p:sp>
      <p:pic>
        <p:nvPicPr>
          <p:cNvPr id="5" name="Image 0" descr="Video frame, scene S18">    </p:cNvPr>
          <p:cNvPicPr>
            <a:picLocks noChangeAspect="1"/>
          </p:cNvPicPr>
          <p:nvPr/>
        </p:nvPicPr>
        <p:blipFill>
          <a:blip r:embed="rId1"/>
          <a:stretch>
            <a:fillRect/>
          </a:stretch>
        </p:blipFill>
        <p:spPr>
          <a:xfrm>
            <a:off x="457200" y="1280160"/>
            <a:ext cx="2011680" cy="1131570"/>
          </a:xfrm>
          <a:prstGeom prst="rect">
            <a:avLst/>
          </a:prstGeom>
        </p:spPr>
      </p:pic>
      <p:sp>
        <p:nvSpPr>
          <p:cNvPr id="6" name="Text 3"/>
          <p:cNvSpPr txBox="1"/>
          <p:nvPr/>
        </p:nvSpPr>
        <p:spPr>
          <a:xfrm>
            <a:off x="2606040" y="1280160"/>
            <a:ext cx="1920240" cy="320040"/>
          </a:xfrm>
          <a:prstGeom prst="rect">
            <a:avLst/>
          </a:prstGeom>
          <a:noFill/>
          <a:ln/>
        </p:spPr>
        <p:txBody>
          <a:bodyPr wrap="square" lIns="0" tIns="0" rIns="0" bIns="0" rtlCol="0" anchor="ctr"/>
          <a:lstStyle/>
          <a:p>
            <a:pPr indent="0" marL="0">
              <a:buNone/>
            </a:pPr>
            <a:r>
              <a:rPr lang="en-US" sz="1300" b="1" dirty="0">
                <a:solidFill>
                  <a:srgbClr val="C8FF4D"/>
                </a:solidFill>
                <a:latin typeface="Calibri" pitchFamily="34" charset="0"/>
                <a:ea typeface="Calibri" pitchFamily="34" charset="-122"/>
                <a:cs typeface="Calibri" pitchFamily="34" charset="-120"/>
              </a:rPr>
              <a:t>Statistical arbitrage</a:t>
            </a:r>
            <a:endParaRPr lang="en-US" sz="1300" dirty="0"/>
          </a:p>
        </p:txBody>
      </p:sp>
      <p:sp>
        <p:nvSpPr>
          <p:cNvPr id="7" name="Text 4"/>
          <p:cNvSpPr txBox="1"/>
          <p:nvPr/>
        </p:nvSpPr>
        <p:spPr>
          <a:xfrm>
            <a:off x="2606040" y="1627632"/>
            <a:ext cx="1920240" cy="822960"/>
          </a:xfrm>
          <a:prstGeom prst="rect">
            <a:avLst/>
          </a:prstGeom>
          <a:noFill/>
          <a:ln/>
        </p:spPr>
        <p:txBody>
          <a:bodyPr wrap="square" lIns="0" tIns="0" rIns="0" bIns="0" rtlCol="0" anchor="t"/>
          <a:lstStyle/>
          <a:p>
            <a:pPr indent="0" marL="0">
              <a:buNone/>
            </a:pPr>
            <a:r>
              <a:rPr lang="en-US" sz="1100" dirty="0">
                <a:solidFill>
                  <a:srgbClr val="DBE3EA"/>
                </a:solidFill>
                <a:latin typeface="Calibri" pitchFamily="34" charset="0"/>
                <a:ea typeface="Calibri" pitchFamily="34" charset="-122"/>
                <a:cs typeface="Calibri" pitchFamily="34" charset="-120"/>
              </a:rPr>
              <a:t>Related assets ka spread normal range ki taraf revert karega?</a:t>
            </a:r>
            <a:endParaRPr lang="en-US" sz="1100" dirty="0"/>
          </a:p>
        </p:txBody>
      </p:sp>
      <p:pic>
        <p:nvPicPr>
          <p:cNvPr id="8" name="Image 1" descr="Video frame, scene S19">    </p:cNvPr>
          <p:cNvPicPr>
            <a:picLocks noChangeAspect="1"/>
          </p:cNvPicPr>
          <p:nvPr/>
        </p:nvPicPr>
        <p:blipFill>
          <a:blip r:embed="rId2"/>
          <a:stretch>
            <a:fillRect/>
          </a:stretch>
        </p:blipFill>
        <p:spPr>
          <a:xfrm>
            <a:off x="4663440" y="1280160"/>
            <a:ext cx="2011680" cy="1131570"/>
          </a:xfrm>
          <a:prstGeom prst="rect">
            <a:avLst/>
          </a:prstGeom>
        </p:spPr>
      </p:pic>
      <p:sp>
        <p:nvSpPr>
          <p:cNvPr id="9" name="Text 5"/>
          <p:cNvSpPr txBox="1"/>
          <p:nvPr/>
        </p:nvSpPr>
        <p:spPr>
          <a:xfrm>
            <a:off x="6812280" y="1280160"/>
            <a:ext cx="1920240" cy="320040"/>
          </a:xfrm>
          <a:prstGeom prst="rect">
            <a:avLst/>
          </a:prstGeom>
          <a:noFill/>
          <a:ln/>
        </p:spPr>
        <p:txBody>
          <a:bodyPr wrap="square" lIns="0" tIns="0" rIns="0" bIns="0" rtlCol="0" anchor="ctr"/>
          <a:lstStyle/>
          <a:p>
            <a:pPr indent="0" marL="0">
              <a:buNone/>
            </a:pPr>
            <a:r>
              <a:rPr lang="en-US" sz="1300" b="1" dirty="0">
                <a:solidFill>
                  <a:srgbClr val="C8FF4D"/>
                </a:solidFill>
                <a:latin typeface="Calibri" pitchFamily="34" charset="0"/>
                <a:ea typeface="Calibri" pitchFamily="34" charset="-122"/>
                <a:cs typeface="Calibri" pitchFamily="34" charset="-120"/>
              </a:rPr>
              <a:t>Momentum &amp; trend</a:t>
            </a:r>
            <a:endParaRPr lang="en-US" sz="1300" dirty="0"/>
          </a:p>
        </p:txBody>
      </p:sp>
      <p:sp>
        <p:nvSpPr>
          <p:cNvPr id="10" name="Text 6"/>
          <p:cNvSpPr txBox="1"/>
          <p:nvPr/>
        </p:nvSpPr>
        <p:spPr>
          <a:xfrm>
            <a:off x="6812280" y="1627632"/>
            <a:ext cx="1920240" cy="822960"/>
          </a:xfrm>
          <a:prstGeom prst="rect">
            <a:avLst/>
          </a:prstGeom>
          <a:noFill/>
          <a:ln/>
        </p:spPr>
        <p:txBody>
          <a:bodyPr wrap="square" lIns="0" tIns="0" rIns="0" bIns="0" rtlCol="0" anchor="t"/>
          <a:lstStyle/>
          <a:p>
            <a:pPr indent="0" marL="0">
              <a:buNone/>
            </a:pPr>
            <a:r>
              <a:rPr lang="en-US" sz="1100" dirty="0">
                <a:solidFill>
                  <a:srgbClr val="DBE3EA"/>
                </a:solidFill>
                <a:latin typeface="Calibri" pitchFamily="34" charset="0"/>
                <a:ea typeface="Calibri" pitchFamily="34" charset="-122"/>
                <a:cs typeface="Calibri" pitchFamily="34" charset="-120"/>
              </a:rPr>
              <a:t>Uptrend mein long, downtrend mein short</a:t>
            </a:r>
            <a:endParaRPr lang="en-US" sz="1100" dirty="0"/>
          </a:p>
        </p:txBody>
      </p:sp>
      <p:pic>
        <p:nvPicPr>
          <p:cNvPr id="11" name="Image 2" descr="Video frame, scene S20">    </p:cNvPr>
          <p:cNvPicPr>
            <a:picLocks noChangeAspect="1"/>
          </p:cNvPicPr>
          <p:nvPr/>
        </p:nvPicPr>
        <p:blipFill>
          <a:blip r:embed="rId3"/>
          <a:stretch>
            <a:fillRect/>
          </a:stretch>
        </p:blipFill>
        <p:spPr>
          <a:xfrm>
            <a:off x="457200" y="3108960"/>
            <a:ext cx="2011680" cy="1131570"/>
          </a:xfrm>
          <a:prstGeom prst="rect">
            <a:avLst/>
          </a:prstGeom>
        </p:spPr>
      </p:pic>
      <p:sp>
        <p:nvSpPr>
          <p:cNvPr id="12" name="Text 7"/>
          <p:cNvSpPr txBox="1"/>
          <p:nvPr/>
        </p:nvSpPr>
        <p:spPr>
          <a:xfrm>
            <a:off x="2606040" y="3108960"/>
            <a:ext cx="1920240" cy="320040"/>
          </a:xfrm>
          <a:prstGeom prst="rect">
            <a:avLst/>
          </a:prstGeom>
          <a:noFill/>
          <a:ln/>
        </p:spPr>
        <p:txBody>
          <a:bodyPr wrap="square" lIns="0" tIns="0" rIns="0" bIns="0" rtlCol="0" anchor="ctr"/>
          <a:lstStyle/>
          <a:p>
            <a:pPr indent="0" marL="0">
              <a:buNone/>
            </a:pPr>
            <a:r>
              <a:rPr lang="en-US" sz="1300" b="1" dirty="0">
                <a:solidFill>
                  <a:srgbClr val="C8FF4D"/>
                </a:solidFill>
                <a:latin typeface="Calibri" pitchFamily="34" charset="0"/>
                <a:ea typeface="Calibri" pitchFamily="34" charset="-122"/>
                <a:cs typeface="Calibri" pitchFamily="34" charset="-120"/>
              </a:rPr>
              <a:t>Mean reversion</a:t>
            </a:r>
            <a:endParaRPr lang="en-US" sz="1300" dirty="0"/>
          </a:p>
        </p:txBody>
      </p:sp>
      <p:sp>
        <p:nvSpPr>
          <p:cNvPr id="13" name="Text 8"/>
          <p:cNvSpPr txBox="1"/>
          <p:nvPr/>
        </p:nvSpPr>
        <p:spPr>
          <a:xfrm>
            <a:off x="2606040" y="3456432"/>
            <a:ext cx="1920240" cy="822960"/>
          </a:xfrm>
          <a:prstGeom prst="rect">
            <a:avLst/>
          </a:prstGeom>
          <a:noFill/>
          <a:ln/>
        </p:spPr>
        <p:txBody>
          <a:bodyPr wrap="square" lIns="0" tIns="0" rIns="0" bIns="0" rtlCol="0" anchor="t"/>
          <a:lstStyle/>
          <a:p>
            <a:pPr indent="0" marL="0">
              <a:buNone/>
            </a:pPr>
            <a:r>
              <a:rPr lang="en-US" sz="1100" dirty="0">
                <a:solidFill>
                  <a:srgbClr val="DBE3EA"/>
                </a:solidFill>
                <a:latin typeface="Calibri" pitchFamily="34" charset="0"/>
                <a:ea typeface="Calibri" pitchFamily="34" charset="-122"/>
                <a:cs typeface="Calibri" pitchFamily="34" charset="-120"/>
              </a:rPr>
              <a:t>Temporary overextension hai ya new trend?</a:t>
            </a:r>
            <a:endParaRPr lang="en-US" sz="1100" dirty="0"/>
          </a:p>
        </p:txBody>
      </p:sp>
      <p:pic>
        <p:nvPicPr>
          <p:cNvPr id="14" name="Image 3" descr="Video frame, scene S21">    </p:cNvPr>
          <p:cNvPicPr>
            <a:picLocks noChangeAspect="1"/>
          </p:cNvPicPr>
          <p:nvPr/>
        </p:nvPicPr>
        <p:blipFill>
          <a:blip r:embed="rId4"/>
          <a:stretch>
            <a:fillRect/>
          </a:stretch>
        </p:blipFill>
        <p:spPr>
          <a:xfrm>
            <a:off x="4663440" y="3108960"/>
            <a:ext cx="2011680" cy="1131570"/>
          </a:xfrm>
          <a:prstGeom prst="rect">
            <a:avLst/>
          </a:prstGeom>
        </p:spPr>
      </p:pic>
      <p:sp>
        <p:nvSpPr>
          <p:cNvPr id="15" name="Text 9"/>
          <p:cNvSpPr txBox="1"/>
          <p:nvPr/>
        </p:nvSpPr>
        <p:spPr>
          <a:xfrm>
            <a:off x="6812280" y="3108960"/>
            <a:ext cx="1920240" cy="320040"/>
          </a:xfrm>
          <a:prstGeom prst="rect">
            <a:avLst/>
          </a:prstGeom>
          <a:noFill/>
          <a:ln/>
        </p:spPr>
        <p:txBody>
          <a:bodyPr wrap="square" lIns="0" tIns="0" rIns="0" bIns="0" rtlCol="0" anchor="ctr"/>
          <a:lstStyle/>
          <a:p>
            <a:pPr indent="0" marL="0">
              <a:buNone/>
            </a:pPr>
            <a:r>
              <a:rPr lang="en-US" sz="1300" b="1" dirty="0">
                <a:solidFill>
                  <a:srgbClr val="C8FF4D"/>
                </a:solidFill>
                <a:latin typeface="Calibri" pitchFamily="34" charset="0"/>
                <a:ea typeface="Calibri" pitchFamily="34" charset="-122"/>
                <a:cs typeface="Calibri" pitchFamily="34" charset="-120"/>
              </a:rPr>
              <a:t>Factor-based models</a:t>
            </a:r>
            <a:endParaRPr lang="en-US" sz="1300" dirty="0"/>
          </a:p>
        </p:txBody>
      </p:sp>
      <p:sp>
        <p:nvSpPr>
          <p:cNvPr id="16" name="Text 10"/>
          <p:cNvSpPr txBox="1"/>
          <p:nvPr/>
        </p:nvSpPr>
        <p:spPr>
          <a:xfrm>
            <a:off x="6812280" y="3456432"/>
            <a:ext cx="1920240" cy="822960"/>
          </a:xfrm>
          <a:prstGeom prst="rect">
            <a:avLst/>
          </a:prstGeom>
          <a:noFill/>
          <a:ln/>
        </p:spPr>
        <p:txBody>
          <a:bodyPr wrap="square" lIns="0" tIns="0" rIns="0" bIns="0" rtlCol="0" anchor="t"/>
          <a:lstStyle/>
          <a:p>
            <a:pPr indent="0" marL="0">
              <a:buNone/>
            </a:pPr>
            <a:r>
              <a:rPr lang="en-US" sz="1100" dirty="0">
                <a:solidFill>
                  <a:srgbClr val="DBE3EA"/>
                </a:solidFill>
                <a:latin typeface="Calibri" pitchFamily="34" charset="0"/>
                <a:ea typeface="Calibri" pitchFamily="34" charset="-122"/>
                <a:cs typeface="Calibri" pitchFamily="34" charset="-120"/>
              </a:rPr>
              <a:t>Stock predict nahi — portfolio ko tilt karo</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F1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b="1" spc="300" kern="0" dirty="0">
                <a:solidFill>
                  <a:srgbClr val="C8FF4D"/>
                </a:solidFill>
                <a:latin typeface="Calibri" pitchFamily="34" charset="0"/>
                <a:ea typeface="Calibri" pitchFamily="34" charset="-122"/>
                <a:cs typeface="Calibri" pitchFamily="34" charset="-120"/>
              </a:rPr>
              <a:t>CHAPTER 06 · YOUR FIRST TESTABLE RULE</a:t>
            </a:r>
            <a:endParaRPr lang="en-US" sz="10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dirty="0">
                <a:solidFill>
                  <a:srgbClr val="DBE3EA"/>
                </a:solidFill>
                <a:latin typeface="Cambria" pitchFamily="34" charset="0"/>
                <a:ea typeface="Cambria" pitchFamily="34" charset="-122"/>
                <a:cs typeface="Cambria" pitchFamily="34" charset="-120"/>
              </a:rPr>
              <a:t>Ek precise, testable rule se shuru karo</a:t>
            </a:r>
            <a:endParaRPr lang="en-US" sz="2800" dirty="0"/>
          </a:p>
        </p:txBody>
      </p:sp>
      <p:sp>
        <p:nvSpPr>
          <p:cNvPr id="4" name="Text 2"/>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8A97A4"/>
                </a:solidFill>
                <a:latin typeface="Calibri" pitchFamily="34" charset="0"/>
                <a:ea typeface="Calibri" pitchFamily="34" charset="-122"/>
                <a:cs typeface="Calibri" pitchFamily="34" charset="-120"/>
              </a:rPr>
              <a:t>14</a:t>
            </a:r>
            <a:endParaRPr lang="en-US" sz="900" dirty="0"/>
          </a:p>
        </p:txBody>
      </p:sp>
      <p:sp>
        <p:nvSpPr>
          <p:cNvPr id="5" name="Shape 3"/>
          <p:cNvSpPr/>
          <p:nvPr/>
        </p:nvSpPr>
        <p:spPr>
          <a:xfrm>
            <a:off x="438912" y="1307592"/>
            <a:ext cx="4517136" cy="2556891"/>
          </a:xfrm>
          <a:prstGeom prst="rect">
            <a:avLst/>
          </a:prstGeom>
          <a:solidFill>
            <a:srgbClr val="2A3542"/>
          </a:solidFill>
          <a:ln w="12700">
            <a:solidFill>
              <a:srgbClr val="2A3542"/>
            </a:solidFill>
            <a:prstDash val="solid"/>
          </a:ln>
          <a:effectLst>
            <a:outerShdw sx="100000" sy="100000" kx="0" ky="0" algn="bl" rotWithShape="0" blurRad="152400" dist="38100" dir="5400000">
              <a:srgbClr val="000000">
                <a:alpha val="45000"/>
              </a:srgbClr>
            </a:outerShdw>
          </a:effectLst>
        </p:spPr>
      </p:sp>
      <p:pic>
        <p:nvPicPr>
          <p:cNvPr id="6" name="Image 0" descr="Video frame, scene S22">    </p:cNvPr>
          <p:cNvPicPr>
            <a:picLocks noChangeAspect="1"/>
          </p:cNvPicPr>
          <p:nvPr/>
        </p:nvPicPr>
        <p:blipFill>
          <a:blip r:embed="rId1"/>
          <a:stretch>
            <a:fillRect/>
          </a:stretch>
        </p:blipFill>
        <p:spPr>
          <a:xfrm>
            <a:off x="457200" y="1325880"/>
            <a:ext cx="4480560" cy="2520315"/>
          </a:xfrm>
          <a:prstGeom prst="rect">
            <a:avLst/>
          </a:prstGeom>
        </p:spPr>
      </p:pic>
      <p:sp>
        <p:nvSpPr>
          <p:cNvPr id="7" name="Shape 4"/>
          <p:cNvSpPr/>
          <p:nvPr/>
        </p:nvSpPr>
        <p:spPr>
          <a:xfrm>
            <a:off x="5212080" y="1325880"/>
            <a:ext cx="3474720" cy="1417320"/>
          </a:xfrm>
          <a:prstGeom prst="roundRect">
            <a:avLst>
              <a:gd name="adj" fmla="val 5161"/>
            </a:avLst>
          </a:prstGeom>
          <a:solidFill>
            <a:srgbClr val="141C26"/>
          </a:solidFill>
          <a:ln w="12700">
            <a:solidFill>
              <a:srgbClr val="2A3542"/>
            </a:solidFill>
            <a:prstDash val="solid"/>
          </a:ln>
        </p:spPr>
      </p:sp>
      <p:sp>
        <p:nvSpPr>
          <p:cNvPr id="8" name="Text 5"/>
          <p:cNvSpPr txBox="1"/>
          <p:nvPr/>
        </p:nvSpPr>
        <p:spPr>
          <a:xfrm>
            <a:off x="5394960" y="1463040"/>
            <a:ext cx="3154680" cy="1188720"/>
          </a:xfrm>
          <a:prstGeom prst="rect">
            <a:avLst/>
          </a:prstGeom>
          <a:noFill/>
          <a:ln/>
        </p:spPr>
        <p:txBody>
          <a:bodyPr wrap="square" lIns="0" tIns="0" rIns="0" bIns="0" rtlCol="0" anchor="ctr"/>
          <a:lstStyle/>
          <a:p>
            <a:pPr indent="0" marL="0">
              <a:spcAft>
                <a:spcPts val="600"/>
              </a:spcAft>
              <a:buNone/>
            </a:pPr>
            <a:r>
              <a:rPr lang="en-US" sz="1300" b="1" dirty="0">
                <a:solidFill>
                  <a:srgbClr val="35D19A"/>
                </a:solidFill>
                <a:latin typeface="Calibri" pitchFamily="34" charset="0"/>
                <a:ea typeface="Calibri" pitchFamily="34" charset="-122"/>
                <a:cs typeface="Calibri" pitchFamily="34" charset="-120"/>
              </a:rPr>
              <a:t>BUY: </a:t>
            </a:r>
            <a:pPr indent="0" marL="0">
              <a:spcAft>
                <a:spcPts val="600"/>
              </a:spcAft>
              <a:buNone/>
            </a:pPr>
            <a:r>
              <a:rPr lang="en-US" sz="1300" dirty="0">
                <a:solidFill>
                  <a:srgbClr val="DBE3EA"/>
                </a:solidFill>
                <a:latin typeface="Calibri" pitchFamily="34" charset="0"/>
                <a:ea typeface="Calibri" pitchFamily="34" charset="-122"/>
                <a:cs typeface="Calibri" pitchFamily="34" charset="-120"/>
              </a:rPr>
              <a:t>20-day MA, 50-day MA ke upar cross kare</a:t>
            </a:r>
            <a:endParaRPr lang="en-US" sz="1300" dirty="0"/>
          </a:p>
          <a:p>
            <a:pPr indent="0" marL="0">
              <a:spcAft>
                <a:spcPts val="600"/>
              </a:spcAft>
              <a:buNone/>
            </a:pPr>
            <a:r>
              <a:rPr lang="en-US" sz="1300" b="1" dirty="0">
                <a:solidFill>
                  <a:srgbClr val="8A97A4"/>
                </a:solidFill>
                <a:latin typeface="Calibri" pitchFamily="34" charset="0"/>
                <a:ea typeface="Calibri" pitchFamily="34" charset="-122"/>
                <a:cs typeface="Calibri" pitchFamily="34" charset="-120"/>
              </a:rPr>
              <a:t>EXIT: </a:t>
            </a:r>
            <a:pPr indent="0" marL="0">
              <a:spcAft>
                <a:spcPts val="600"/>
              </a:spcAft>
              <a:buNone/>
            </a:pPr>
            <a:r>
              <a:rPr lang="en-US" sz="1300" dirty="0">
                <a:solidFill>
                  <a:srgbClr val="DBE3EA"/>
                </a:solidFill>
                <a:latin typeface="Calibri" pitchFamily="34" charset="0"/>
                <a:ea typeface="Calibri" pitchFamily="34" charset="-122"/>
                <a:cs typeface="Calibri" pitchFamily="34" charset="-120"/>
              </a:rPr>
              <a:t>20-day MA wapas 50-day ke neeche cross kare</a:t>
            </a:r>
            <a:endParaRPr lang="en-US" sz="1300" dirty="0"/>
          </a:p>
        </p:txBody>
      </p:sp>
      <p:sp>
        <p:nvSpPr>
          <p:cNvPr id="9" name="Text 6"/>
          <p:cNvSpPr txBox="1"/>
          <p:nvPr/>
        </p:nvSpPr>
        <p:spPr>
          <a:xfrm>
            <a:off x="5212080" y="2926080"/>
            <a:ext cx="3474720" cy="274320"/>
          </a:xfrm>
          <a:prstGeom prst="rect">
            <a:avLst/>
          </a:prstGeom>
          <a:noFill/>
          <a:ln/>
        </p:spPr>
        <p:txBody>
          <a:bodyPr wrap="square" lIns="0" tIns="0" rIns="0" bIns="0" rtlCol="0" anchor="ctr"/>
          <a:lstStyle/>
          <a:p>
            <a:pPr indent="0" marL="0">
              <a:buNone/>
            </a:pPr>
            <a:r>
              <a:rPr lang="en-US" sz="1200" b="1" dirty="0">
                <a:solidFill>
                  <a:srgbClr val="C8FF4D"/>
                </a:solidFill>
                <a:latin typeface="Calibri" pitchFamily="34" charset="0"/>
                <a:ea typeface="Calibri" pitchFamily="34" charset="-122"/>
                <a:cs typeface="Calibri" pitchFamily="34" charset="-120"/>
              </a:rPr>
              <a:t>Phir backtest mein check karo:</a:t>
            </a:r>
            <a:endParaRPr lang="en-US" sz="1200" dirty="0"/>
          </a:p>
        </p:txBody>
      </p:sp>
      <p:sp>
        <p:nvSpPr>
          <p:cNvPr id="10" name="Text 7"/>
          <p:cNvSpPr txBox="1"/>
          <p:nvPr/>
        </p:nvSpPr>
        <p:spPr>
          <a:xfrm>
            <a:off x="5212080" y="3246120"/>
            <a:ext cx="3474720" cy="1371600"/>
          </a:xfrm>
          <a:prstGeom prst="rect">
            <a:avLst/>
          </a:prstGeom>
          <a:noFill/>
          <a:ln/>
        </p:spPr>
        <p:txBody>
          <a:bodyPr wrap="square" lIns="0" tIns="0" rIns="0" bIns="0" rtlCol="0" anchor="t"/>
          <a:lstStyle/>
          <a:p>
            <a:pPr indent="0" marL="0">
              <a:spcAft>
                <a:spcPts val="900"/>
              </a:spcAft>
              <a:buNone/>
            </a:pPr>
            <a:r>
              <a:rPr lang="en-US" sz="1200" b="1" dirty="0">
                <a:solidFill>
                  <a:srgbClr val="C8FF4D"/>
                </a:solidFill>
                <a:latin typeface="Calibri" pitchFamily="34" charset="0"/>
                <a:ea typeface="Calibri" pitchFamily="34" charset="-122"/>
                <a:cs typeface="Calibri" pitchFamily="34" charset="-120"/>
              </a:rPr>
              <a:t>→ </a:t>
            </a:r>
            <a:pPr indent="0" marL="0">
              <a:spcAft>
                <a:spcPts val="900"/>
              </a:spcAft>
              <a:buNone/>
            </a:pPr>
            <a:r>
              <a:rPr lang="en-US" sz="1200" dirty="0">
                <a:solidFill>
                  <a:srgbClr val="DBE3EA"/>
                </a:solidFill>
                <a:latin typeface="Calibri" pitchFamily="34" charset="0"/>
                <a:ea typeface="Calibri" pitchFamily="34" charset="-122"/>
                <a:cs typeface="Calibri" pitchFamily="34" charset="-120"/>
              </a:rPr>
              <a:t>Win rate</a:t>
            </a:r>
            <a:endParaRPr lang="en-US" sz="1200" dirty="0"/>
          </a:p>
          <a:p>
            <a:pPr indent="0" marL="0">
              <a:spcAft>
                <a:spcPts val="900"/>
              </a:spcAft>
              <a:buNone/>
            </a:pPr>
            <a:r>
              <a:rPr lang="en-US" sz="1200" b="1" dirty="0">
                <a:solidFill>
                  <a:srgbClr val="C8FF4D"/>
                </a:solidFill>
                <a:latin typeface="Calibri" pitchFamily="34" charset="0"/>
                <a:ea typeface="Calibri" pitchFamily="34" charset="-122"/>
                <a:cs typeface="Calibri" pitchFamily="34" charset="-120"/>
              </a:rPr>
              <a:t>→ </a:t>
            </a:r>
            <a:pPr indent="0" marL="0">
              <a:spcAft>
                <a:spcPts val="900"/>
              </a:spcAft>
              <a:buNone/>
            </a:pPr>
            <a:r>
              <a:rPr lang="en-US" sz="1200" dirty="0">
                <a:solidFill>
                  <a:srgbClr val="DBE3EA"/>
                </a:solidFill>
                <a:latin typeface="Calibri" pitchFamily="34" charset="0"/>
                <a:ea typeface="Calibri" pitchFamily="34" charset="-122"/>
                <a:cs typeface="Calibri" pitchFamily="34" charset="-120"/>
              </a:rPr>
              <a:t>Drawdown</a:t>
            </a:r>
            <a:endParaRPr lang="en-US" sz="1200" dirty="0"/>
          </a:p>
          <a:p>
            <a:pPr indent="0" marL="0">
              <a:spcAft>
                <a:spcPts val="900"/>
              </a:spcAft>
              <a:buNone/>
            </a:pPr>
            <a:r>
              <a:rPr lang="en-US" sz="1200" b="1" dirty="0">
                <a:solidFill>
                  <a:srgbClr val="C8FF4D"/>
                </a:solidFill>
                <a:latin typeface="Calibri" pitchFamily="34" charset="0"/>
                <a:ea typeface="Calibri" pitchFamily="34" charset="-122"/>
                <a:cs typeface="Calibri" pitchFamily="34" charset="-120"/>
              </a:rPr>
              <a:t>→ </a:t>
            </a:r>
            <a:pPr indent="0" marL="0">
              <a:spcAft>
                <a:spcPts val="900"/>
              </a:spcAft>
              <a:buNone/>
            </a:pPr>
            <a:r>
              <a:rPr lang="en-US" sz="1200" dirty="0">
                <a:solidFill>
                  <a:srgbClr val="DBE3EA"/>
                </a:solidFill>
                <a:latin typeface="Calibri" pitchFamily="34" charset="0"/>
                <a:ea typeface="Calibri" pitchFamily="34" charset="-122"/>
                <a:cs typeface="Calibri" pitchFamily="34" charset="-120"/>
              </a:rPr>
              <a:t>Average risk-to-reward</a:t>
            </a:r>
            <a:endParaRPr lang="en-US" sz="1200" dirty="0"/>
          </a:p>
          <a:p>
            <a:pPr indent="0" marL="0">
              <a:spcAft>
                <a:spcPts val="900"/>
              </a:spcAft>
              <a:buNone/>
            </a:pPr>
            <a:r>
              <a:rPr lang="en-US" sz="1200" b="1" dirty="0">
                <a:solidFill>
                  <a:srgbClr val="C8FF4D"/>
                </a:solidFill>
                <a:latin typeface="Calibri" pitchFamily="34" charset="0"/>
                <a:ea typeface="Calibri" pitchFamily="34" charset="-122"/>
                <a:cs typeface="Calibri" pitchFamily="34" charset="-120"/>
              </a:rPr>
              <a:t>→ </a:t>
            </a:r>
            <a:pPr indent="0" marL="0">
              <a:spcAft>
                <a:spcPts val="900"/>
              </a:spcAft>
              <a:buNone/>
            </a:pPr>
            <a:r>
              <a:rPr lang="en-US" sz="1200" dirty="0">
                <a:solidFill>
                  <a:srgbClr val="DBE3EA"/>
                </a:solidFill>
                <a:latin typeface="Calibri" pitchFamily="34" charset="0"/>
                <a:ea typeface="Calibri" pitchFamily="34" charset="-122"/>
                <a:cs typeface="Calibri" pitchFamily="34" charset="-120"/>
              </a:rPr>
              <a:t>Alag-alag market conditions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F1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b="1" spc="300" kern="0" dirty="0">
                <a:solidFill>
                  <a:srgbClr val="C8FF4D"/>
                </a:solidFill>
                <a:latin typeface="Calibri" pitchFamily="34" charset="0"/>
                <a:ea typeface="Calibri" pitchFamily="34" charset="-122"/>
                <a:cs typeface="Calibri" pitchFamily="34" charset="-120"/>
              </a:rPr>
              <a:t>CHAPTER 07 · THE HARDEST PART</a:t>
            </a:r>
            <a:endParaRPr lang="en-US" sz="10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dirty="0">
                <a:solidFill>
                  <a:srgbClr val="DBE3EA"/>
                </a:solidFill>
                <a:latin typeface="Cambria" pitchFamily="34" charset="0"/>
                <a:ea typeface="Cambria" pitchFamily="34" charset="-122"/>
                <a:cs typeface="Cambria" pitchFamily="34" charset="-120"/>
              </a:rPr>
              <a:t>Execute karna sabse mushkil hai</a:t>
            </a:r>
            <a:endParaRPr lang="en-US" sz="2800" dirty="0"/>
          </a:p>
        </p:txBody>
      </p:sp>
      <p:sp>
        <p:nvSpPr>
          <p:cNvPr id="4" name="Text 2"/>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8A97A4"/>
                </a:solidFill>
                <a:latin typeface="Calibri" pitchFamily="34" charset="0"/>
                <a:ea typeface="Calibri" pitchFamily="34" charset="-122"/>
                <a:cs typeface="Calibri" pitchFamily="34" charset="-120"/>
              </a:rPr>
              <a:t>15</a:t>
            </a:r>
            <a:endParaRPr lang="en-US" sz="900" dirty="0"/>
          </a:p>
        </p:txBody>
      </p:sp>
      <p:sp>
        <p:nvSpPr>
          <p:cNvPr id="5" name="Shape 3"/>
          <p:cNvSpPr/>
          <p:nvPr/>
        </p:nvSpPr>
        <p:spPr>
          <a:xfrm>
            <a:off x="438912" y="1353312"/>
            <a:ext cx="4197096" cy="2376869"/>
          </a:xfrm>
          <a:prstGeom prst="rect">
            <a:avLst/>
          </a:prstGeom>
          <a:solidFill>
            <a:srgbClr val="2A3542"/>
          </a:solidFill>
          <a:ln w="12700">
            <a:solidFill>
              <a:srgbClr val="2A3542"/>
            </a:solidFill>
            <a:prstDash val="solid"/>
          </a:ln>
          <a:effectLst>
            <a:outerShdw sx="100000" sy="100000" kx="0" ky="0" algn="bl" rotWithShape="0" blurRad="152400" dist="38100" dir="5400000">
              <a:srgbClr val="000000">
                <a:alpha val="45000"/>
              </a:srgbClr>
            </a:outerShdw>
          </a:effectLst>
        </p:spPr>
      </p:sp>
      <p:pic>
        <p:nvPicPr>
          <p:cNvPr id="6" name="Image 0" descr="Video frame, scene S24">    </p:cNvPr>
          <p:cNvPicPr>
            <a:picLocks noChangeAspect="1"/>
          </p:cNvPicPr>
          <p:nvPr/>
        </p:nvPicPr>
        <p:blipFill>
          <a:blip r:embed="rId1"/>
          <a:stretch>
            <a:fillRect/>
          </a:stretch>
        </p:blipFill>
        <p:spPr>
          <a:xfrm>
            <a:off x="457200" y="1371600"/>
            <a:ext cx="4160520" cy="2340292"/>
          </a:xfrm>
          <a:prstGeom prst="rect">
            <a:avLst/>
          </a:prstGeom>
        </p:spPr>
      </p:pic>
      <p:sp>
        <p:nvSpPr>
          <p:cNvPr id="7" name="Shape 4"/>
          <p:cNvSpPr/>
          <p:nvPr/>
        </p:nvSpPr>
        <p:spPr>
          <a:xfrm>
            <a:off x="4892040" y="1371600"/>
            <a:ext cx="384048" cy="384048"/>
          </a:xfrm>
          <a:prstGeom prst="ellipse">
            <a:avLst/>
          </a:prstGeom>
          <a:solidFill>
            <a:srgbClr val="141C26"/>
          </a:solidFill>
          <a:ln w="19050">
            <a:solidFill>
              <a:srgbClr val="FF5A5F"/>
            </a:solidFill>
            <a:prstDash val="solid"/>
          </a:ln>
        </p:spPr>
      </p:sp>
      <p:sp>
        <p:nvSpPr>
          <p:cNvPr id="8" name="Text 5"/>
          <p:cNvSpPr txBox="1"/>
          <p:nvPr/>
        </p:nvSpPr>
        <p:spPr>
          <a:xfrm>
            <a:off x="4892040" y="1371600"/>
            <a:ext cx="384048" cy="384048"/>
          </a:xfrm>
          <a:prstGeom prst="rect">
            <a:avLst/>
          </a:prstGeom>
          <a:noFill/>
          <a:ln/>
        </p:spPr>
        <p:txBody>
          <a:bodyPr wrap="square" lIns="0" tIns="0" rIns="0" bIns="0" rtlCol="0" anchor="ctr"/>
          <a:lstStyle/>
          <a:p>
            <a:pPr algn="ctr" indent="0" marL="0">
              <a:buNone/>
            </a:pPr>
            <a:r>
              <a:rPr lang="en-US" sz="1200" b="1" dirty="0">
                <a:solidFill>
                  <a:srgbClr val="FF5A5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5440680" y="1325880"/>
            <a:ext cx="3246120" cy="502920"/>
          </a:xfrm>
          <a:prstGeom prst="rect">
            <a:avLst/>
          </a:prstGeom>
          <a:noFill/>
          <a:ln/>
        </p:spPr>
        <p:txBody>
          <a:bodyPr wrap="square" lIns="0" tIns="0" rIns="0" bIns="0" rtlCol="0" anchor="ctr"/>
          <a:lstStyle/>
          <a:p>
            <a:pPr indent="0" marL="0">
              <a:buNone/>
            </a:pPr>
            <a:r>
              <a:rPr lang="en-US" sz="1300" dirty="0">
                <a:solidFill>
                  <a:srgbClr val="DBE3EA"/>
                </a:solidFill>
                <a:latin typeface="Calibri" pitchFamily="34" charset="0"/>
                <a:ea typeface="Calibri" pitchFamily="34" charset="-122"/>
                <a:cs typeface="Calibri" pitchFamily="34" charset="-120"/>
              </a:rPr>
              <a:t>Kuch signals lena, kuch skip karna</a:t>
            </a:r>
            <a:endParaRPr lang="en-US" sz="1300" dirty="0"/>
          </a:p>
        </p:txBody>
      </p:sp>
      <p:sp>
        <p:nvSpPr>
          <p:cNvPr id="10" name="Shape 7"/>
          <p:cNvSpPr/>
          <p:nvPr/>
        </p:nvSpPr>
        <p:spPr>
          <a:xfrm>
            <a:off x="4892040" y="2029968"/>
            <a:ext cx="384048" cy="384048"/>
          </a:xfrm>
          <a:prstGeom prst="ellipse">
            <a:avLst/>
          </a:prstGeom>
          <a:solidFill>
            <a:srgbClr val="141C26"/>
          </a:solidFill>
          <a:ln w="19050">
            <a:solidFill>
              <a:srgbClr val="FF5A5F"/>
            </a:solidFill>
            <a:prstDash val="solid"/>
          </a:ln>
        </p:spPr>
      </p:sp>
      <p:sp>
        <p:nvSpPr>
          <p:cNvPr id="11" name="Text 8"/>
          <p:cNvSpPr txBox="1"/>
          <p:nvPr/>
        </p:nvSpPr>
        <p:spPr>
          <a:xfrm>
            <a:off x="4892040" y="2029968"/>
            <a:ext cx="384048" cy="384048"/>
          </a:xfrm>
          <a:prstGeom prst="rect">
            <a:avLst/>
          </a:prstGeom>
          <a:noFill/>
          <a:ln/>
        </p:spPr>
        <p:txBody>
          <a:bodyPr wrap="square" lIns="0" tIns="0" rIns="0" bIns="0" rtlCol="0" anchor="ctr"/>
          <a:lstStyle/>
          <a:p>
            <a:pPr algn="ctr" indent="0" marL="0">
              <a:buNone/>
            </a:pPr>
            <a:r>
              <a:rPr lang="en-US" sz="1200" b="1" dirty="0">
                <a:solidFill>
                  <a:srgbClr val="FF5A5F"/>
                </a:solidFill>
                <a:latin typeface="Calibri" pitchFamily="34" charset="0"/>
                <a:ea typeface="Calibri" pitchFamily="34" charset="-122"/>
                <a:cs typeface="Calibri" pitchFamily="34" charset="-120"/>
              </a:rPr>
              <a:t>2</a:t>
            </a:r>
            <a:endParaRPr lang="en-US" sz="1200" dirty="0"/>
          </a:p>
        </p:txBody>
      </p:sp>
      <p:sp>
        <p:nvSpPr>
          <p:cNvPr id="12" name="Text 9"/>
          <p:cNvSpPr txBox="1"/>
          <p:nvPr/>
        </p:nvSpPr>
        <p:spPr>
          <a:xfrm>
            <a:off x="5440680" y="1984248"/>
            <a:ext cx="3246120" cy="502920"/>
          </a:xfrm>
          <a:prstGeom prst="rect">
            <a:avLst/>
          </a:prstGeom>
          <a:noFill/>
          <a:ln/>
        </p:spPr>
        <p:txBody>
          <a:bodyPr wrap="square" lIns="0" tIns="0" rIns="0" bIns="0" rtlCol="0" anchor="ctr"/>
          <a:lstStyle/>
          <a:p>
            <a:pPr indent="0" marL="0">
              <a:buNone/>
            </a:pPr>
            <a:r>
              <a:rPr lang="en-US" sz="1300" dirty="0">
                <a:solidFill>
                  <a:srgbClr val="DBE3EA"/>
                </a:solidFill>
                <a:latin typeface="Calibri" pitchFamily="34" charset="0"/>
                <a:ea typeface="Calibri" pitchFamily="34" charset="-122"/>
                <a:cs typeface="Calibri" pitchFamily="34" charset="-120"/>
              </a:rPr>
              <a:t>Stop loss ko move karna</a:t>
            </a:r>
            <a:endParaRPr lang="en-US" sz="1300" dirty="0"/>
          </a:p>
        </p:txBody>
      </p:sp>
      <p:sp>
        <p:nvSpPr>
          <p:cNvPr id="13" name="Shape 10"/>
          <p:cNvSpPr/>
          <p:nvPr/>
        </p:nvSpPr>
        <p:spPr>
          <a:xfrm>
            <a:off x="4892040" y="2688336"/>
            <a:ext cx="384048" cy="384048"/>
          </a:xfrm>
          <a:prstGeom prst="ellipse">
            <a:avLst/>
          </a:prstGeom>
          <a:solidFill>
            <a:srgbClr val="141C26"/>
          </a:solidFill>
          <a:ln w="19050">
            <a:solidFill>
              <a:srgbClr val="FF5A5F"/>
            </a:solidFill>
            <a:prstDash val="solid"/>
          </a:ln>
        </p:spPr>
      </p:sp>
      <p:sp>
        <p:nvSpPr>
          <p:cNvPr id="14" name="Text 11"/>
          <p:cNvSpPr txBox="1"/>
          <p:nvPr/>
        </p:nvSpPr>
        <p:spPr>
          <a:xfrm>
            <a:off x="4892040" y="2688336"/>
            <a:ext cx="384048" cy="384048"/>
          </a:xfrm>
          <a:prstGeom prst="rect">
            <a:avLst/>
          </a:prstGeom>
          <a:noFill/>
          <a:ln/>
        </p:spPr>
        <p:txBody>
          <a:bodyPr wrap="square" lIns="0" tIns="0" rIns="0" bIns="0" rtlCol="0" anchor="ctr"/>
          <a:lstStyle/>
          <a:p>
            <a:pPr algn="ctr" indent="0" marL="0">
              <a:buNone/>
            </a:pPr>
            <a:r>
              <a:rPr lang="en-US" sz="1200" b="1" dirty="0">
                <a:solidFill>
                  <a:srgbClr val="FF5A5F"/>
                </a:solidFill>
                <a:latin typeface="Calibri" pitchFamily="34" charset="0"/>
                <a:ea typeface="Calibri" pitchFamily="34" charset="-122"/>
                <a:cs typeface="Calibri" pitchFamily="34" charset="-120"/>
              </a:rPr>
              <a:t>3</a:t>
            </a:r>
            <a:endParaRPr lang="en-US" sz="1200" dirty="0"/>
          </a:p>
        </p:txBody>
      </p:sp>
      <p:sp>
        <p:nvSpPr>
          <p:cNvPr id="15" name="Text 12"/>
          <p:cNvSpPr txBox="1"/>
          <p:nvPr/>
        </p:nvSpPr>
        <p:spPr>
          <a:xfrm>
            <a:off x="5440680" y="2642616"/>
            <a:ext cx="3246120" cy="502920"/>
          </a:xfrm>
          <a:prstGeom prst="rect">
            <a:avLst/>
          </a:prstGeom>
          <a:noFill/>
          <a:ln/>
        </p:spPr>
        <p:txBody>
          <a:bodyPr wrap="square" lIns="0" tIns="0" rIns="0" bIns="0" rtlCol="0" anchor="ctr"/>
          <a:lstStyle/>
          <a:p>
            <a:pPr indent="0" marL="0">
              <a:buNone/>
            </a:pPr>
            <a:r>
              <a:rPr lang="en-US" sz="1300" dirty="0">
                <a:solidFill>
                  <a:srgbClr val="DBE3EA"/>
                </a:solidFill>
                <a:latin typeface="Calibri" pitchFamily="34" charset="0"/>
                <a:ea typeface="Calibri" pitchFamily="34" charset="-122"/>
                <a:cs typeface="Calibri" pitchFamily="34" charset="-120"/>
              </a:rPr>
              <a:t>Losing trade ko recover hone ki ummeed mein hold karna</a:t>
            </a:r>
            <a:endParaRPr lang="en-US" sz="1300" dirty="0"/>
          </a:p>
        </p:txBody>
      </p:sp>
      <p:sp>
        <p:nvSpPr>
          <p:cNvPr id="16" name="Shape 13"/>
          <p:cNvSpPr/>
          <p:nvPr/>
        </p:nvSpPr>
        <p:spPr>
          <a:xfrm>
            <a:off x="4892040" y="3346704"/>
            <a:ext cx="384048" cy="384048"/>
          </a:xfrm>
          <a:prstGeom prst="ellipse">
            <a:avLst/>
          </a:prstGeom>
          <a:solidFill>
            <a:srgbClr val="141C26"/>
          </a:solidFill>
          <a:ln w="19050">
            <a:solidFill>
              <a:srgbClr val="FF5A5F"/>
            </a:solidFill>
            <a:prstDash val="solid"/>
          </a:ln>
        </p:spPr>
      </p:sp>
      <p:sp>
        <p:nvSpPr>
          <p:cNvPr id="17" name="Text 14"/>
          <p:cNvSpPr txBox="1"/>
          <p:nvPr/>
        </p:nvSpPr>
        <p:spPr>
          <a:xfrm>
            <a:off x="4892040" y="3346704"/>
            <a:ext cx="384048" cy="384048"/>
          </a:xfrm>
          <a:prstGeom prst="rect">
            <a:avLst/>
          </a:prstGeom>
          <a:noFill/>
          <a:ln/>
        </p:spPr>
        <p:txBody>
          <a:bodyPr wrap="square" lIns="0" tIns="0" rIns="0" bIns="0" rtlCol="0" anchor="ctr"/>
          <a:lstStyle/>
          <a:p>
            <a:pPr algn="ctr" indent="0" marL="0">
              <a:buNone/>
            </a:pPr>
            <a:r>
              <a:rPr lang="en-US" sz="1200" b="1" dirty="0">
                <a:solidFill>
                  <a:srgbClr val="FF5A5F"/>
                </a:solidFill>
                <a:latin typeface="Calibri" pitchFamily="34" charset="0"/>
                <a:ea typeface="Calibri" pitchFamily="34" charset="-122"/>
                <a:cs typeface="Calibri" pitchFamily="34" charset="-120"/>
              </a:rPr>
              <a:t>4</a:t>
            </a:r>
            <a:endParaRPr lang="en-US" sz="1200" dirty="0"/>
          </a:p>
        </p:txBody>
      </p:sp>
      <p:sp>
        <p:nvSpPr>
          <p:cNvPr id="18" name="Text 15"/>
          <p:cNvSpPr txBox="1"/>
          <p:nvPr/>
        </p:nvSpPr>
        <p:spPr>
          <a:xfrm>
            <a:off x="5440680" y="3300984"/>
            <a:ext cx="3246120" cy="502920"/>
          </a:xfrm>
          <a:prstGeom prst="rect">
            <a:avLst/>
          </a:prstGeom>
          <a:noFill/>
          <a:ln/>
        </p:spPr>
        <p:txBody>
          <a:bodyPr wrap="square" lIns="0" tIns="0" rIns="0" bIns="0" rtlCol="0" anchor="ctr"/>
          <a:lstStyle/>
          <a:p>
            <a:pPr indent="0" marL="0">
              <a:buNone/>
            </a:pPr>
            <a:r>
              <a:rPr lang="en-US" sz="1300" dirty="0">
                <a:solidFill>
                  <a:srgbClr val="DBE3EA"/>
                </a:solidFill>
                <a:latin typeface="Calibri" pitchFamily="34" charset="0"/>
                <a:ea typeface="Calibri" pitchFamily="34" charset="-122"/>
                <a:cs typeface="Calibri" pitchFamily="34" charset="-120"/>
              </a:rPr>
              <a:t>Drawdown ke baad strategy abandon karna</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F1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b="1" spc="300" kern="0" dirty="0">
                <a:solidFill>
                  <a:srgbClr val="C8FF4D"/>
                </a:solidFill>
                <a:latin typeface="Calibri" pitchFamily="34" charset="0"/>
                <a:ea typeface="Calibri" pitchFamily="34" charset="-122"/>
                <a:cs typeface="Calibri" pitchFamily="34" charset="-120"/>
              </a:rPr>
              <a:t>THE FIX</a:t>
            </a:r>
            <a:endParaRPr lang="en-US" sz="10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dirty="0">
                <a:solidFill>
                  <a:srgbClr val="DBE3EA"/>
                </a:solidFill>
                <a:latin typeface="Cambria" pitchFamily="34" charset="0"/>
                <a:ea typeface="Cambria" pitchFamily="34" charset="-122"/>
                <a:cs typeface="Cambria" pitchFamily="34" charset="-120"/>
              </a:rPr>
              <a:t>Trade journal maintain karo</a:t>
            </a:r>
            <a:endParaRPr lang="en-US" sz="2800" dirty="0"/>
          </a:p>
        </p:txBody>
      </p:sp>
      <p:sp>
        <p:nvSpPr>
          <p:cNvPr id="4" name="Text 2"/>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8A97A4"/>
                </a:solidFill>
                <a:latin typeface="Calibri" pitchFamily="34" charset="0"/>
                <a:ea typeface="Calibri" pitchFamily="34" charset="-122"/>
                <a:cs typeface="Calibri" pitchFamily="34" charset="-120"/>
              </a:rPr>
              <a:t>16</a:t>
            </a:r>
            <a:endParaRPr lang="en-US" sz="900" dirty="0"/>
          </a:p>
        </p:txBody>
      </p:sp>
      <p:sp>
        <p:nvSpPr>
          <p:cNvPr id="5" name="Text 3"/>
          <p:cNvSpPr txBox="1"/>
          <p:nvPr/>
        </p:nvSpPr>
        <p:spPr>
          <a:xfrm>
            <a:off x="457200" y="1371600"/>
            <a:ext cx="3840480" cy="3291840"/>
          </a:xfrm>
          <a:prstGeom prst="rect">
            <a:avLst/>
          </a:prstGeom>
          <a:noFill/>
          <a:ln/>
        </p:spPr>
        <p:txBody>
          <a:bodyPr wrap="square" lIns="0" tIns="0" rIns="0" bIns="0" rtlCol="0" anchor="t"/>
          <a:lstStyle/>
          <a:p>
            <a:pPr indent="0" marL="0">
              <a:spcAft>
                <a:spcPts val="900"/>
              </a:spcAft>
              <a:buNone/>
            </a:pPr>
            <a:r>
              <a:rPr lang="en-US" sz="1400" b="1" dirty="0">
                <a:solidFill>
                  <a:srgbClr val="C8FF4D"/>
                </a:solidFill>
                <a:latin typeface="Calibri" pitchFamily="34" charset="0"/>
                <a:ea typeface="Calibri" pitchFamily="34" charset="-122"/>
                <a:cs typeface="Calibri" pitchFamily="34" charset="-120"/>
              </a:rPr>
              <a:t>Log karo: </a:t>
            </a:r>
            <a:pPr indent="0" marL="0">
              <a:spcAft>
                <a:spcPts val="900"/>
              </a:spcAft>
              <a:buNone/>
            </a:pPr>
            <a:r>
              <a:rPr lang="en-US" sz="1400" dirty="0">
                <a:solidFill>
                  <a:srgbClr val="DBE3EA"/>
                </a:solidFill>
                <a:latin typeface="Calibri" pitchFamily="34" charset="0"/>
                <a:ea typeface="Calibri" pitchFamily="34" charset="-122"/>
                <a:cs typeface="Calibri" pitchFamily="34" charset="-120"/>
              </a:rPr>
              <a:t>entry condition, entry price, exit price, stop loss, take profit, market condition, result</a:t>
            </a:r>
            <a:endParaRPr lang="en-US" sz="1400" dirty="0"/>
          </a:p>
          <a:p>
            <a:pPr indent="0" marL="0">
              <a:spcAft>
                <a:spcPts val="900"/>
              </a:spcAft>
              <a:buNone/>
            </a:pPr>
            <a:r>
              <a:rPr lang="en-US" sz="1400" b="1" dirty="0">
                <a:solidFill>
                  <a:srgbClr val="C8FF4D"/>
                </a:solidFill>
                <a:latin typeface="Calibri" pitchFamily="34" charset="0"/>
                <a:ea typeface="Calibri" pitchFamily="34" charset="-122"/>
                <a:cs typeface="Calibri" pitchFamily="34" charset="-120"/>
              </a:rPr>
              <a:t>Compare karo: </a:t>
            </a:r>
            <a:pPr indent="0" marL="0">
              <a:spcAft>
                <a:spcPts val="900"/>
              </a:spcAft>
              <a:buNone/>
            </a:pPr>
            <a:r>
              <a:rPr lang="en-US" sz="1400" dirty="0">
                <a:solidFill>
                  <a:srgbClr val="DBE3EA"/>
                </a:solidFill>
                <a:latin typeface="Calibri" pitchFamily="34" charset="0"/>
                <a:ea typeface="Calibri" pitchFamily="34" charset="-122"/>
                <a:cs typeface="Calibri" pitchFamily="34" charset="-120"/>
              </a:rPr>
              <a:t>kya live performance backtest jaisi hai?</a:t>
            </a:r>
            <a:endParaRPr lang="en-US" sz="1400" dirty="0"/>
          </a:p>
          <a:p>
            <a:pPr indent="0" marL="0">
              <a:spcAft>
                <a:spcPts val="900"/>
              </a:spcAft>
              <a:buNone/>
            </a:pPr>
            <a:r>
              <a:rPr lang="en-US" sz="1400" b="1" dirty="0">
                <a:solidFill>
                  <a:srgbClr val="C8FF4D"/>
                </a:solidFill>
                <a:latin typeface="Calibri" pitchFamily="34" charset="0"/>
                <a:ea typeface="Calibri" pitchFamily="34" charset="-122"/>
                <a:cs typeface="Calibri" pitchFamily="34" charset="-120"/>
              </a:rPr>
              <a:t>Agar kaafi worse hai: </a:t>
            </a:r>
            <a:pPr indent="0" marL="0">
              <a:spcAft>
                <a:spcPts val="900"/>
              </a:spcAft>
              <a:buNone/>
            </a:pPr>
            <a:r>
              <a:rPr lang="en-US" sz="1400" dirty="0">
                <a:solidFill>
                  <a:srgbClr val="DBE3EA"/>
                </a:solidFill>
                <a:latin typeface="Calibri" pitchFamily="34" charset="0"/>
                <a:ea typeface="Calibri" pitchFamily="34" charset="-122"/>
                <a:cs typeface="Calibri" pitchFamily="34" charset="-120"/>
              </a:rPr>
              <a:t>overfitting, market conditions ka badalna, execution problems, ya edge ka degrade hona</a:t>
            </a:r>
            <a:endParaRPr lang="en-US" sz="1400" dirty="0"/>
          </a:p>
        </p:txBody>
      </p:sp>
      <p:sp>
        <p:nvSpPr>
          <p:cNvPr id="6" name="Shape 4"/>
          <p:cNvSpPr/>
          <p:nvPr/>
        </p:nvSpPr>
        <p:spPr>
          <a:xfrm>
            <a:off x="4507992" y="1353312"/>
            <a:ext cx="4197096" cy="2376869"/>
          </a:xfrm>
          <a:prstGeom prst="rect">
            <a:avLst/>
          </a:prstGeom>
          <a:solidFill>
            <a:srgbClr val="2A3542"/>
          </a:solidFill>
          <a:ln w="12700">
            <a:solidFill>
              <a:srgbClr val="2A3542"/>
            </a:solidFill>
            <a:prstDash val="solid"/>
          </a:ln>
          <a:effectLst>
            <a:outerShdw sx="100000" sy="100000" kx="0" ky="0" algn="bl" rotWithShape="0" blurRad="152400" dist="38100" dir="5400000">
              <a:srgbClr val="000000">
                <a:alpha val="45000"/>
              </a:srgbClr>
            </a:outerShdw>
          </a:effectLst>
        </p:spPr>
      </p:sp>
      <p:pic>
        <p:nvPicPr>
          <p:cNvPr id="7" name="Image 0" descr="Video frame, scene S25">    </p:cNvPr>
          <p:cNvPicPr>
            <a:picLocks noChangeAspect="1"/>
          </p:cNvPicPr>
          <p:nvPr/>
        </p:nvPicPr>
        <p:blipFill>
          <a:blip r:embed="rId1"/>
          <a:stretch>
            <a:fillRect/>
          </a:stretch>
        </p:blipFill>
        <p:spPr>
          <a:xfrm>
            <a:off x="4526280" y="1371600"/>
            <a:ext cx="4160520" cy="234029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F1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b="1" spc="300" kern="0" dirty="0">
                <a:solidFill>
                  <a:srgbClr val="C8FF4D"/>
                </a:solidFill>
                <a:latin typeface="Calibri" pitchFamily="34" charset="0"/>
                <a:ea typeface="Calibri" pitchFamily="34" charset="-122"/>
                <a:cs typeface="Calibri" pitchFamily="34" charset="-120"/>
              </a:rPr>
              <a:t>CHAPTER 08 · WHEN IT STOPS WORKING</a:t>
            </a:r>
            <a:endParaRPr lang="en-US" sz="10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dirty="0">
                <a:solidFill>
                  <a:srgbClr val="DBE3EA"/>
                </a:solidFill>
                <a:latin typeface="Cambria" pitchFamily="34" charset="0"/>
                <a:ea typeface="Cambria" pitchFamily="34" charset="-122"/>
                <a:cs typeface="Cambria" pitchFamily="34" charset="-120"/>
              </a:rPr>
              <a:t>Normal drawdown — ya edge badal gayi?</a:t>
            </a:r>
            <a:endParaRPr lang="en-US" sz="2800" dirty="0"/>
          </a:p>
        </p:txBody>
      </p:sp>
      <p:sp>
        <p:nvSpPr>
          <p:cNvPr id="4" name="Text 2"/>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8A97A4"/>
                </a:solidFill>
                <a:latin typeface="Calibri" pitchFamily="34" charset="0"/>
                <a:ea typeface="Calibri" pitchFamily="34" charset="-122"/>
                <a:cs typeface="Calibri" pitchFamily="34" charset="-120"/>
              </a:rPr>
              <a:t>17</a:t>
            </a:r>
            <a:endParaRPr lang="en-US" sz="900" dirty="0"/>
          </a:p>
        </p:txBody>
      </p:sp>
      <p:sp>
        <p:nvSpPr>
          <p:cNvPr id="5" name="Shape 3"/>
          <p:cNvSpPr/>
          <p:nvPr/>
        </p:nvSpPr>
        <p:spPr>
          <a:xfrm>
            <a:off x="438912" y="1353312"/>
            <a:ext cx="4197096" cy="2376869"/>
          </a:xfrm>
          <a:prstGeom prst="rect">
            <a:avLst/>
          </a:prstGeom>
          <a:solidFill>
            <a:srgbClr val="2A3542"/>
          </a:solidFill>
          <a:ln w="12700">
            <a:solidFill>
              <a:srgbClr val="2A3542"/>
            </a:solidFill>
            <a:prstDash val="solid"/>
          </a:ln>
          <a:effectLst>
            <a:outerShdw sx="100000" sy="100000" kx="0" ky="0" algn="bl" rotWithShape="0" blurRad="152400" dist="38100" dir="5400000">
              <a:srgbClr val="000000">
                <a:alpha val="45000"/>
              </a:srgbClr>
            </a:outerShdw>
          </a:effectLst>
        </p:spPr>
      </p:sp>
      <p:pic>
        <p:nvPicPr>
          <p:cNvPr id="6" name="Image 0" descr="Video frame, scene S26">    </p:cNvPr>
          <p:cNvPicPr>
            <a:picLocks noChangeAspect="1"/>
          </p:cNvPicPr>
          <p:nvPr/>
        </p:nvPicPr>
        <p:blipFill>
          <a:blip r:embed="rId1"/>
          <a:stretch>
            <a:fillRect/>
          </a:stretch>
        </p:blipFill>
        <p:spPr>
          <a:xfrm>
            <a:off x="457200" y="1371600"/>
            <a:ext cx="4160520" cy="2340292"/>
          </a:xfrm>
          <a:prstGeom prst="rect">
            <a:avLst/>
          </a:prstGeom>
        </p:spPr>
      </p:pic>
      <p:sp>
        <p:nvSpPr>
          <p:cNvPr id="7" name="Shape 4"/>
          <p:cNvSpPr/>
          <p:nvPr/>
        </p:nvSpPr>
        <p:spPr>
          <a:xfrm>
            <a:off x="4892040" y="1371600"/>
            <a:ext cx="384048" cy="384048"/>
          </a:xfrm>
          <a:prstGeom prst="ellipse">
            <a:avLst/>
          </a:prstGeom>
          <a:solidFill>
            <a:srgbClr val="141C26"/>
          </a:solidFill>
          <a:ln w="19050">
            <a:solidFill>
              <a:srgbClr val="C8FF4D"/>
            </a:solidFill>
            <a:prstDash val="solid"/>
          </a:ln>
        </p:spPr>
      </p:sp>
      <p:sp>
        <p:nvSpPr>
          <p:cNvPr id="8" name="Text 5"/>
          <p:cNvSpPr txBox="1"/>
          <p:nvPr/>
        </p:nvSpPr>
        <p:spPr>
          <a:xfrm>
            <a:off x="4892040" y="1371600"/>
            <a:ext cx="384048" cy="384048"/>
          </a:xfrm>
          <a:prstGeom prst="rect">
            <a:avLst/>
          </a:prstGeom>
          <a:noFill/>
          <a:ln/>
        </p:spPr>
        <p:txBody>
          <a:bodyPr wrap="square" lIns="0" tIns="0" rIns="0" bIns="0" rtlCol="0" anchor="ctr"/>
          <a:lstStyle/>
          <a:p>
            <a:pPr algn="ctr" indent="0" marL="0">
              <a:buNone/>
            </a:pPr>
            <a:r>
              <a:rPr lang="en-US" sz="1200" b="1" dirty="0">
                <a:solidFill>
                  <a:srgbClr val="C8FF4D"/>
                </a:solidFill>
                <a:latin typeface="Calibri" pitchFamily="34" charset="0"/>
                <a:ea typeface="Calibri" pitchFamily="34" charset="-122"/>
                <a:cs typeface="Calibri" pitchFamily="34" charset="-120"/>
              </a:rPr>
              <a:t>?</a:t>
            </a:r>
            <a:endParaRPr lang="en-US" sz="1200" dirty="0"/>
          </a:p>
        </p:txBody>
      </p:sp>
      <p:sp>
        <p:nvSpPr>
          <p:cNvPr id="9" name="Text 6"/>
          <p:cNvSpPr txBox="1"/>
          <p:nvPr/>
        </p:nvSpPr>
        <p:spPr>
          <a:xfrm>
            <a:off x="5440680" y="1335024"/>
            <a:ext cx="3246120" cy="457200"/>
          </a:xfrm>
          <a:prstGeom prst="rect">
            <a:avLst/>
          </a:prstGeom>
          <a:noFill/>
          <a:ln/>
        </p:spPr>
        <p:txBody>
          <a:bodyPr wrap="square" lIns="0" tIns="0" rIns="0" bIns="0" rtlCol="0" anchor="ctr"/>
          <a:lstStyle/>
          <a:p>
            <a:pPr indent="0" marL="0">
              <a:buNone/>
            </a:pPr>
            <a:r>
              <a:rPr lang="en-US" sz="1300" dirty="0">
                <a:solidFill>
                  <a:srgbClr val="DBE3EA"/>
                </a:solidFill>
                <a:latin typeface="Calibri" pitchFamily="34" charset="0"/>
                <a:ea typeface="Calibri" pitchFamily="34" charset="-122"/>
                <a:cs typeface="Calibri" pitchFamily="34" charset="-120"/>
              </a:rPr>
              <a:t>Market regime change hua?</a:t>
            </a:r>
            <a:endParaRPr lang="en-US" sz="1300" dirty="0"/>
          </a:p>
        </p:txBody>
      </p:sp>
      <p:sp>
        <p:nvSpPr>
          <p:cNvPr id="10" name="Shape 7"/>
          <p:cNvSpPr/>
          <p:nvPr/>
        </p:nvSpPr>
        <p:spPr>
          <a:xfrm>
            <a:off x="4892040" y="1975104"/>
            <a:ext cx="384048" cy="384048"/>
          </a:xfrm>
          <a:prstGeom prst="ellipse">
            <a:avLst/>
          </a:prstGeom>
          <a:solidFill>
            <a:srgbClr val="141C26"/>
          </a:solidFill>
          <a:ln w="19050">
            <a:solidFill>
              <a:srgbClr val="C8FF4D"/>
            </a:solidFill>
            <a:prstDash val="solid"/>
          </a:ln>
        </p:spPr>
      </p:sp>
      <p:sp>
        <p:nvSpPr>
          <p:cNvPr id="11" name="Text 8"/>
          <p:cNvSpPr txBox="1"/>
          <p:nvPr/>
        </p:nvSpPr>
        <p:spPr>
          <a:xfrm>
            <a:off x="4892040" y="1975104"/>
            <a:ext cx="384048" cy="384048"/>
          </a:xfrm>
          <a:prstGeom prst="rect">
            <a:avLst/>
          </a:prstGeom>
          <a:noFill/>
          <a:ln/>
        </p:spPr>
        <p:txBody>
          <a:bodyPr wrap="square" lIns="0" tIns="0" rIns="0" bIns="0" rtlCol="0" anchor="ctr"/>
          <a:lstStyle/>
          <a:p>
            <a:pPr algn="ctr" indent="0" marL="0">
              <a:buNone/>
            </a:pPr>
            <a:r>
              <a:rPr lang="en-US" sz="1200" b="1" dirty="0">
                <a:solidFill>
                  <a:srgbClr val="C8FF4D"/>
                </a:solidFill>
                <a:latin typeface="Calibri" pitchFamily="34" charset="0"/>
                <a:ea typeface="Calibri" pitchFamily="34" charset="-122"/>
                <a:cs typeface="Calibri" pitchFamily="34" charset="-120"/>
              </a:rPr>
              <a:t>?</a:t>
            </a:r>
            <a:endParaRPr lang="en-US" sz="1200" dirty="0"/>
          </a:p>
        </p:txBody>
      </p:sp>
      <p:sp>
        <p:nvSpPr>
          <p:cNvPr id="12" name="Text 9"/>
          <p:cNvSpPr txBox="1"/>
          <p:nvPr/>
        </p:nvSpPr>
        <p:spPr>
          <a:xfrm>
            <a:off x="5440680" y="1938528"/>
            <a:ext cx="3246120" cy="457200"/>
          </a:xfrm>
          <a:prstGeom prst="rect">
            <a:avLst/>
          </a:prstGeom>
          <a:noFill/>
          <a:ln/>
        </p:spPr>
        <p:txBody>
          <a:bodyPr wrap="square" lIns="0" tIns="0" rIns="0" bIns="0" rtlCol="0" anchor="ctr"/>
          <a:lstStyle/>
          <a:p>
            <a:pPr indent="0" marL="0">
              <a:buNone/>
            </a:pPr>
            <a:r>
              <a:rPr lang="en-US" sz="1300" dirty="0">
                <a:solidFill>
                  <a:srgbClr val="DBE3EA"/>
                </a:solidFill>
                <a:latin typeface="Calibri" pitchFamily="34" charset="0"/>
                <a:ea typeface="Calibri" pitchFamily="34" charset="-122"/>
                <a:cs typeface="Calibri" pitchFamily="34" charset="-120"/>
              </a:rPr>
              <a:t>Similar strategies bhi underperform kar rahi hain?</a:t>
            </a:r>
            <a:endParaRPr lang="en-US" sz="1300" dirty="0"/>
          </a:p>
        </p:txBody>
      </p:sp>
      <p:sp>
        <p:nvSpPr>
          <p:cNvPr id="13" name="Shape 10"/>
          <p:cNvSpPr/>
          <p:nvPr/>
        </p:nvSpPr>
        <p:spPr>
          <a:xfrm>
            <a:off x="4892040" y="2578608"/>
            <a:ext cx="384048" cy="384048"/>
          </a:xfrm>
          <a:prstGeom prst="ellipse">
            <a:avLst/>
          </a:prstGeom>
          <a:solidFill>
            <a:srgbClr val="141C26"/>
          </a:solidFill>
          <a:ln w="19050">
            <a:solidFill>
              <a:srgbClr val="C8FF4D"/>
            </a:solidFill>
            <a:prstDash val="solid"/>
          </a:ln>
        </p:spPr>
      </p:sp>
      <p:sp>
        <p:nvSpPr>
          <p:cNvPr id="14" name="Text 11"/>
          <p:cNvSpPr txBox="1"/>
          <p:nvPr/>
        </p:nvSpPr>
        <p:spPr>
          <a:xfrm>
            <a:off x="4892040" y="2578608"/>
            <a:ext cx="384048" cy="384048"/>
          </a:xfrm>
          <a:prstGeom prst="rect">
            <a:avLst/>
          </a:prstGeom>
          <a:noFill/>
          <a:ln/>
        </p:spPr>
        <p:txBody>
          <a:bodyPr wrap="square" lIns="0" tIns="0" rIns="0" bIns="0" rtlCol="0" anchor="ctr"/>
          <a:lstStyle/>
          <a:p>
            <a:pPr algn="ctr" indent="0" marL="0">
              <a:buNone/>
            </a:pPr>
            <a:r>
              <a:rPr lang="en-US" sz="1200" b="1" dirty="0">
                <a:solidFill>
                  <a:srgbClr val="C8FF4D"/>
                </a:solidFill>
                <a:latin typeface="Calibri" pitchFamily="34" charset="0"/>
                <a:ea typeface="Calibri" pitchFamily="34" charset="-122"/>
                <a:cs typeface="Calibri" pitchFamily="34" charset="-120"/>
              </a:rPr>
              <a:t>?</a:t>
            </a:r>
            <a:endParaRPr lang="en-US" sz="1200" dirty="0"/>
          </a:p>
        </p:txBody>
      </p:sp>
      <p:sp>
        <p:nvSpPr>
          <p:cNvPr id="15" name="Text 12"/>
          <p:cNvSpPr txBox="1"/>
          <p:nvPr/>
        </p:nvSpPr>
        <p:spPr>
          <a:xfrm>
            <a:off x="5440680" y="2542032"/>
            <a:ext cx="3246120" cy="457200"/>
          </a:xfrm>
          <a:prstGeom prst="rect">
            <a:avLst/>
          </a:prstGeom>
          <a:noFill/>
          <a:ln/>
        </p:spPr>
        <p:txBody>
          <a:bodyPr wrap="square" lIns="0" tIns="0" rIns="0" bIns="0" rtlCol="0" anchor="ctr"/>
          <a:lstStyle/>
          <a:p>
            <a:pPr indent="0" marL="0">
              <a:buNone/>
            </a:pPr>
            <a:r>
              <a:rPr lang="en-US" sz="1300" dirty="0">
                <a:solidFill>
                  <a:srgbClr val="DBE3EA"/>
                </a:solidFill>
                <a:latin typeface="Calibri" pitchFamily="34" charset="0"/>
                <a:ea typeface="Calibri" pitchFamily="34" charset="-122"/>
                <a:cs typeface="Calibri" pitchFamily="34" charset="-120"/>
              </a:rPr>
              <a:t>Signal conditions abhi bhi generate ho rahi hain?</a:t>
            </a:r>
            <a:endParaRPr lang="en-US" sz="1300" dirty="0"/>
          </a:p>
        </p:txBody>
      </p:sp>
      <p:sp>
        <p:nvSpPr>
          <p:cNvPr id="16" name="Shape 13"/>
          <p:cNvSpPr/>
          <p:nvPr/>
        </p:nvSpPr>
        <p:spPr>
          <a:xfrm>
            <a:off x="4892040" y="3182112"/>
            <a:ext cx="384048" cy="384048"/>
          </a:xfrm>
          <a:prstGeom prst="ellipse">
            <a:avLst/>
          </a:prstGeom>
          <a:solidFill>
            <a:srgbClr val="141C26"/>
          </a:solidFill>
          <a:ln w="19050">
            <a:solidFill>
              <a:srgbClr val="C8FF4D"/>
            </a:solidFill>
            <a:prstDash val="solid"/>
          </a:ln>
        </p:spPr>
      </p:sp>
      <p:sp>
        <p:nvSpPr>
          <p:cNvPr id="17" name="Text 14"/>
          <p:cNvSpPr txBox="1"/>
          <p:nvPr/>
        </p:nvSpPr>
        <p:spPr>
          <a:xfrm>
            <a:off x="4892040" y="3182112"/>
            <a:ext cx="384048" cy="384048"/>
          </a:xfrm>
          <a:prstGeom prst="rect">
            <a:avLst/>
          </a:prstGeom>
          <a:noFill/>
          <a:ln/>
        </p:spPr>
        <p:txBody>
          <a:bodyPr wrap="square" lIns="0" tIns="0" rIns="0" bIns="0" rtlCol="0" anchor="ctr"/>
          <a:lstStyle/>
          <a:p>
            <a:pPr algn="ctr" indent="0" marL="0">
              <a:buNone/>
            </a:pPr>
            <a:r>
              <a:rPr lang="en-US" sz="1200" b="1" dirty="0">
                <a:solidFill>
                  <a:srgbClr val="C8FF4D"/>
                </a:solidFill>
                <a:latin typeface="Calibri" pitchFamily="34" charset="0"/>
                <a:ea typeface="Calibri" pitchFamily="34" charset="-122"/>
                <a:cs typeface="Calibri" pitchFamily="34" charset="-120"/>
              </a:rPr>
              <a:t>?</a:t>
            </a:r>
            <a:endParaRPr lang="en-US" sz="1200" dirty="0"/>
          </a:p>
        </p:txBody>
      </p:sp>
      <p:sp>
        <p:nvSpPr>
          <p:cNvPr id="18" name="Text 15"/>
          <p:cNvSpPr txBox="1"/>
          <p:nvPr/>
        </p:nvSpPr>
        <p:spPr>
          <a:xfrm>
            <a:off x="5440680" y="3145536"/>
            <a:ext cx="3246120" cy="457200"/>
          </a:xfrm>
          <a:prstGeom prst="rect">
            <a:avLst/>
          </a:prstGeom>
          <a:noFill/>
          <a:ln/>
        </p:spPr>
        <p:txBody>
          <a:bodyPr wrap="square" lIns="0" tIns="0" rIns="0" bIns="0" rtlCol="0" anchor="ctr"/>
          <a:lstStyle/>
          <a:p>
            <a:pPr indent="0" marL="0">
              <a:buNone/>
            </a:pPr>
            <a:r>
              <a:rPr lang="en-US" sz="1300" dirty="0">
                <a:solidFill>
                  <a:srgbClr val="DBE3EA"/>
                </a:solidFill>
                <a:latin typeface="Calibri" pitchFamily="34" charset="0"/>
                <a:ea typeface="Calibri" pitchFamily="34" charset="-122"/>
                <a:cs typeface="Calibri" pitchFamily="34" charset="-120"/>
              </a:rPr>
              <a:t>Current market history se kitna different hai?</a:t>
            </a:r>
            <a:endParaRPr lang="en-US" sz="1300" dirty="0"/>
          </a:p>
        </p:txBody>
      </p:sp>
      <p:sp>
        <p:nvSpPr>
          <p:cNvPr id="19" name="Text 16"/>
          <p:cNvSpPr txBox="1"/>
          <p:nvPr/>
        </p:nvSpPr>
        <p:spPr>
          <a:xfrm>
            <a:off x="4892040" y="3886200"/>
            <a:ext cx="3794760" cy="502920"/>
          </a:xfrm>
          <a:prstGeom prst="rect">
            <a:avLst/>
          </a:prstGeom>
          <a:noFill/>
          <a:ln/>
        </p:spPr>
        <p:txBody>
          <a:bodyPr wrap="square" lIns="0" tIns="0" rIns="0" bIns="0" rtlCol="0" anchor="t"/>
          <a:lstStyle/>
          <a:p>
            <a:pPr indent="0" marL="0">
              <a:buNone/>
            </a:pPr>
            <a:r>
              <a:rPr lang="en-US" sz="1100" i="1" dirty="0">
                <a:solidFill>
                  <a:srgbClr val="C8FF4D"/>
                </a:solidFill>
                <a:latin typeface="Calibri" pitchFamily="34" charset="0"/>
                <a:ea typeface="Calibri" pitchFamily="34" charset="-122"/>
                <a:cs typeface="Calibri" pitchFamily="34" charset="-120"/>
              </a:rPr>
              <a:t>Properly backtested strategy ho to evidence se evaluate karo — feeling se nahi.</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F1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b="1" spc="300" kern="0" dirty="0">
                <a:solidFill>
                  <a:srgbClr val="C8FF4D"/>
                </a:solidFill>
                <a:latin typeface="Calibri" pitchFamily="34" charset="0"/>
                <a:ea typeface="Calibri" pitchFamily="34" charset="-122"/>
                <a:cs typeface="Calibri" pitchFamily="34" charset="-120"/>
              </a:rPr>
              <a:t>CHAPTER 09 · THE TRAPS</a:t>
            </a:r>
            <a:endParaRPr lang="en-US" sz="10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dirty="0">
                <a:solidFill>
                  <a:srgbClr val="DBE3EA"/>
                </a:solidFill>
                <a:latin typeface="Cambria" pitchFamily="34" charset="0"/>
                <a:ea typeface="Cambria" pitchFamily="34" charset="-122"/>
                <a:cs typeface="Cambria" pitchFamily="34" charset="-120"/>
              </a:rPr>
              <a:t>Sabse bada trap: overfitting</a:t>
            </a:r>
            <a:endParaRPr lang="en-US" sz="2800" dirty="0"/>
          </a:p>
        </p:txBody>
      </p:sp>
      <p:sp>
        <p:nvSpPr>
          <p:cNvPr id="4" name="Text 2"/>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8A97A4"/>
                </a:solidFill>
                <a:latin typeface="Calibri" pitchFamily="34" charset="0"/>
                <a:ea typeface="Calibri" pitchFamily="34" charset="-122"/>
                <a:cs typeface="Calibri" pitchFamily="34" charset="-120"/>
              </a:rPr>
              <a:t>18</a:t>
            </a:r>
            <a:endParaRPr lang="en-US" sz="900" dirty="0"/>
          </a:p>
        </p:txBody>
      </p:sp>
      <p:sp>
        <p:nvSpPr>
          <p:cNvPr id="5" name="Shape 3"/>
          <p:cNvSpPr/>
          <p:nvPr/>
        </p:nvSpPr>
        <p:spPr>
          <a:xfrm>
            <a:off x="438912" y="1353312"/>
            <a:ext cx="4517136" cy="2556891"/>
          </a:xfrm>
          <a:prstGeom prst="rect">
            <a:avLst/>
          </a:prstGeom>
          <a:solidFill>
            <a:srgbClr val="2A3542"/>
          </a:solidFill>
          <a:ln w="12700">
            <a:solidFill>
              <a:srgbClr val="2A3542"/>
            </a:solidFill>
            <a:prstDash val="solid"/>
          </a:ln>
          <a:effectLst>
            <a:outerShdw sx="100000" sy="100000" kx="0" ky="0" algn="bl" rotWithShape="0" blurRad="152400" dist="38100" dir="5400000">
              <a:srgbClr val="000000">
                <a:alpha val="45000"/>
              </a:srgbClr>
            </a:outerShdw>
          </a:effectLst>
        </p:spPr>
      </p:sp>
      <p:pic>
        <p:nvPicPr>
          <p:cNvPr id="6" name="Image 0" descr="Video frame, scene S28">    </p:cNvPr>
          <p:cNvPicPr>
            <a:picLocks noChangeAspect="1"/>
          </p:cNvPicPr>
          <p:nvPr/>
        </p:nvPicPr>
        <p:blipFill>
          <a:blip r:embed="rId1"/>
          <a:stretch>
            <a:fillRect/>
          </a:stretch>
        </p:blipFill>
        <p:spPr>
          <a:xfrm>
            <a:off x="457200" y="1371600"/>
            <a:ext cx="4480560" cy="2520315"/>
          </a:xfrm>
          <a:prstGeom prst="rect">
            <a:avLst/>
          </a:prstGeom>
        </p:spPr>
      </p:pic>
      <p:sp>
        <p:nvSpPr>
          <p:cNvPr id="7" name="Text 4"/>
          <p:cNvSpPr txBox="1"/>
          <p:nvPr/>
        </p:nvSpPr>
        <p:spPr>
          <a:xfrm>
            <a:off x="5212080" y="1371600"/>
            <a:ext cx="3474720" cy="3291840"/>
          </a:xfrm>
          <a:prstGeom prst="rect">
            <a:avLst/>
          </a:prstGeom>
          <a:noFill/>
          <a:ln/>
        </p:spPr>
        <p:txBody>
          <a:bodyPr wrap="square" lIns="0" tIns="0" rIns="0" bIns="0" rtlCol="0" anchor="t"/>
          <a:lstStyle/>
          <a:p>
            <a:pPr indent="0" marL="0">
              <a:spcAft>
                <a:spcPts val="900"/>
              </a:spcAft>
              <a:buNone/>
            </a:pPr>
            <a:r>
              <a:rPr lang="en-US" sz="1300" b="1" dirty="0">
                <a:solidFill>
                  <a:srgbClr val="C8FF4D"/>
                </a:solidFill>
                <a:latin typeface="Calibri" pitchFamily="34" charset="0"/>
                <a:ea typeface="Calibri" pitchFamily="34" charset="-122"/>
                <a:cs typeface="Calibri" pitchFamily="34" charset="-120"/>
              </a:rPr>
              <a:t>→ </a:t>
            </a:r>
            <a:pPr indent="0" marL="0">
              <a:spcAft>
                <a:spcPts val="900"/>
              </a:spcAft>
              <a:buNone/>
            </a:pPr>
            <a:r>
              <a:rPr lang="en-US" sz="1300" dirty="0">
                <a:solidFill>
                  <a:srgbClr val="DBE3EA"/>
                </a:solidFill>
                <a:latin typeface="Calibri" pitchFamily="34" charset="0"/>
                <a:ea typeface="Calibri" pitchFamily="34" charset="-122"/>
                <a:cs typeface="Calibri" pitchFamily="34" charset="-120"/>
              </a:rPr>
              <a:t>Strategy ko historical data ke hisaab se itna optimize karna ki backtest strong dikhe</a:t>
            </a:r>
            <a:endParaRPr lang="en-US" sz="1300" dirty="0"/>
          </a:p>
          <a:p>
            <a:pPr indent="0" marL="0">
              <a:spcAft>
                <a:spcPts val="900"/>
              </a:spcAft>
              <a:buNone/>
            </a:pPr>
            <a:r>
              <a:rPr lang="en-US" sz="1300" b="1" dirty="0">
                <a:solidFill>
                  <a:srgbClr val="C8FF4D"/>
                </a:solidFill>
                <a:latin typeface="Calibri" pitchFamily="34" charset="0"/>
                <a:ea typeface="Calibri" pitchFamily="34" charset="-122"/>
                <a:cs typeface="Calibri" pitchFamily="34" charset="-120"/>
              </a:rPr>
              <a:t>→ </a:t>
            </a:r>
            <a:pPr indent="0" marL="0">
              <a:spcAft>
                <a:spcPts val="900"/>
              </a:spcAft>
              <a:buNone/>
            </a:pPr>
            <a:r>
              <a:rPr lang="en-US" sz="1300" dirty="0">
                <a:solidFill>
                  <a:srgbClr val="DBE3EA"/>
                </a:solidFill>
                <a:latin typeface="Calibri" pitchFamily="34" charset="0"/>
                <a:ea typeface="Calibri" pitchFamily="34" charset="-122"/>
                <a:cs typeface="Calibri" pitchFamily="34" charset="-120"/>
              </a:rPr>
              <a:t>Lekin live market mein fail ho jaye — strategy noise seekh rahi thi</a:t>
            </a:r>
            <a:endParaRPr lang="en-US" sz="1300" dirty="0"/>
          </a:p>
          <a:p>
            <a:pPr indent="0" marL="0">
              <a:spcAft>
                <a:spcPts val="900"/>
              </a:spcAft>
              <a:buNone/>
            </a:pPr>
            <a:r>
              <a:rPr lang="en-US" sz="1300" b="1" dirty="0">
                <a:solidFill>
                  <a:srgbClr val="C8FF4D"/>
                </a:solidFill>
                <a:latin typeface="Calibri" pitchFamily="34" charset="0"/>
                <a:ea typeface="Calibri" pitchFamily="34" charset="-122"/>
                <a:cs typeface="Calibri" pitchFamily="34" charset="-120"/>
              </a:rPr>
              <a:t>Defence: </a:t>
            </a:r>
            <a:pPr indent="0" marL="0">
              <a:spcAft>
                <a:spcPts val="900"/>
              </a:spcAft>
              <a:buNone/>
            </a:pPr>
            <a:r>
              <a:rPr lang="en-US" sz="1300" dirty="0">
                <a:solidFill>
                  <a:srgbClr val="DBE3EA"/>
                </a:solidFill>
                <a:latin typeface="Calibri" pitchFamily="34" charset="0"/>
                <a:ea typeface="Calibri" pitchFamily="34" charset="-122"/>
                <a:cs typeface="Calibri" pitchFamily="34" charset="-120"/>
              </a:rPr>
              <a:t>out-of-sample testing — alag data par test karo jo develop karne mein use nahi hua</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F1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b="1" spc="300" kern="0" dirty="0">
                <a:solidFill>
                  <a:srgbClr val="C8FF4D"/>
                </a:solidFill>
                <a:latin typeface="Calibri" pitchFamily="34" charset="0"/>
                <a:ea typeface="Calibri" pitchFamily="34" charset="-122"/>
                <a:cs typeface="Calibri" pitchFamily="34" charset="-120"/>
              </a:rPr>
              <a:t>CHAPTER 09 · THE TRAPS</a:t>
            </a:r>
            <a:endParaRPr lang="en-US" sz="10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dirty="0">
                <a:solidFill>
                  <a:srgbClr val="DBE3EA"/>
                </a:solidFill>
                <a:latin typeface="Cambria" pitchFamily="34" charset="0"/>
                <a:ea typeface="Cambria" pitchFamily="34" charset="-122"/>
                <a:cs typeface="Cambria" pitchFamily="34" charset="-120"/>
              </a:rPr>
              <a:t>Hidden costs aur fading edge</a:t>
            </a:r>
            <a:endParaRPr lang="en-US" sz="2800" dirty="0"/>
          </a:p>
        </p:txBody>
      </p:sp>
      <p:sp>
        <p:nvSpPr>
          <p:cNvPr id="4" name="Text 2"/>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8A97A4"/>
                </a:solidFill>
                <a:latin typeface="Calibri" pitchFamily="34" charset="0"/>
                <a:ea typeface="Calibri" pitchFamily="34" charset="-122"/>
                <a:cs typeface="Calibri" pitchFamily="34" charset="-120"/>
              </a:rPr>
              <a:t>19</a:t>
            </a:r>
            <a:endParaRPr lang="en-US" sz="900" dirty="0"/>
          </a:p>
        </p:txBody>
      </p:sp>
      <p:sp>
        <p:nvSpPr>
          <p:cNvPr id="5" name="Shape 3"/>
          <p:cNvSpPr/>
          <p:nvPr/>
        </p:nvSpPr>
        <p:spPr>
          <a:xfrm>
            <a:off x="438912" y="1261872"/>
            <a:ext cx="4014216" cy="2273999"/>
          </a:xfrm>
          <a:prstGeom prst="rect">
            <a:avLst/>
          </a:prstGeom>
          <a:solidFill>
            <a:srgbClr val="2A3542"/>
          </a:solidFill>
          <a:ln w="12700">
            <a:solidFill>
              <a:srgbClr val="2A3542"/>
            </a:solidFill>
            <a:prstDash val="solid"/>
          </a:ln>
          <a:effectLst>
            <a:outerShdw sx="100000" sy="100000" kx="0" ky="0" algn="bl" rotWithShape="0" blurRad="152400" dist="38100" dir="5400000">
              <a:srgbClr val="000000">
                <a:alpha val="45000"/>
              </a:srgbClr>
            </a:outerShdw>
          </a:effectLst>
        </p:spPr>
      </p:sp>
      <p:pic>
        <p:nvPicPr>
          <p:cNvPr id="6" name="Image 0" descr="Video frame, scene S30">    </p:cNvPr>
          <p:cNvPicPr>
            <a:picLocks noChangeAspect="1"/>
          </p:cNvPicPr>
          <p:nvPr/>
        </p:nvPicPr>
        <p:blipFill>
          <a:blip r:embed="rId1"/>
          <a:stretch>
            <a:fillRect/>
          </a:stretch>
        </p:blipFill>
        <p:spPr>
          <a:xfrm>
            <a:off x="457200" y="1280160"/>
            <a:ext cx="3977640" cy="2237423"/>
          </a:xfrm>
          <a:prstGeom prst="rect">
            <a:avLst/>
          </a:prstGeom>
        </p:spPr>
      </p:pic>
      <p:sp>
        <p:nvSpPr>
          <p:cNvPr id="7" name="Shape 4"/>
          <p:cNvSpPr/>
          <p:nvPr/>
        </p:nvSpPr>
        <p:spPr>
          <a:xfrm>
            <a:off x="4690872" y="1261872"/>
            <a:ext cx="4014216" cy="2273999"/>
          </a:xfrm>
          <a:prstGeom prst="rect">
            <a:avLst/>
          </a:prstGeom>
          <a:solidFill>
            <a:srgbClr val="2A3542"/>
          </a:solidFill>
          <a:ln w="12700">
            <a:solidFill>
              <a:srgbClr val="2A3542"/>
            </a:solidFill>
            <a:prstDash val="solid"/>
          </a:ln>
          <a:effectLst>
            <a:outerShdw sx="100000" sy="100000" kx="0" ky="0" algn="bl" rotWithShape="0" blurRad="152400" dist="38100" dir="5400000">
              <a:srgbClr val="000000">
                <a:alpha val="45000"/>
              </a:srgbClr>
            </a:outerShdw>
          </a:effectLst>
        </p:spPr>
      </p:sp>
      <p:pic>
        <p:nvPicPr>
          <p:cNvPr id="8" name="Image 1" descr="Video frame, scene S31">    </p:cNvPr>
          <p:cNvPicPr>
            <a:picLocks noChangeAspect="1"/>
          </p:cNvPicPr>
          <p:nvPr/>
        </p:nvPicPr>
        <p:blipFill>
          <a:blip r:embed="rId2"/>
          <a:stretch>
            <a:fillRect/>
          </a:stretch>
        </p:blipFill>
        <p:spPr>
          <a:xfrm>
            <a:off x="4709160" y="1280160"/>
            <a:ext cx="3977640" cy="2237423"/>
          </a:xfrm>
          <a:prstGeom prst="rect">
            <a:avLst/>
          </a:prstGeom>
        </p:spPr>
      </p:pic>
      <p:sp>
        <p:nvSpPr>
          <p:cNvPr id="9" name="Text 5"/>
          <p:cNvSpPr txBox="1"/>
          <p:nvPr/>
        </p:nvSpPr>
        <p:spPr>
          <a:xfrm>
            <a:off x="457200" y="3611880"/>
            <a:ext cx="3977640" cy="274320"/>
          </a:xfrm>
          <a:prstGeom prst="rect">
            <a:avLst/>
          </a:prstGeom>
          <a:noFill/>
          <a:ln/>
        </p:spPr>
        <p:txBody>
          <a:bodyPr wrap="square" lIns="0" tIns="0" rIns="0" bIns="0" rtlCol="0" anchor="ctr"/>
          <a:lstStyle/>
          <a:p>
            <a:pPr indent="0" marL="0">
              <a:buNone/>
            </a:pPr>
            <a:r>
              <a:rPr lang="en-US" sz="1300" b="1" dirty="0">
                <a:solidFill>
                  <a:srgbClr val="C8FF4D"/>
                </a:solidFill>
                <a:latin typeface="Calibri" pitchFamily="34" charset="0"/>
                <a:ea typeface="Calibri" pitchFamily="34" charset="-122"/>
                <a:cs typeface="Calibri" pitchFamily="34" charset="-120"/>
              </a:rPr>
              <a:t>Transaction costs</a:t>
            </a:r>
            <a:endParaRPr lang="en-US" sz="1300" dirty="0"/>
          </a:p>
        </p:txBody>
      </p:sp>
      <p:sp>
        <p:nvSpPr>
          <p:cNvPr id="10" name="Text 6"/>
          <p:cNvSpPr txBox="1"/>
          <p:nvPr/>
        </p:nvSpPr>
        <p:spPr>
          <a:xfrm>
            <a:off x="457200" y="3904488"/>
            <a:ext cx="3977640" cy="502920"/>
          </a:xfrm>
          <a:prstGeom prst="rect">
            <a:avLst/>
          </a:prstGeom>
          <a:noFill/>
          <a:ln/>
        </p:spPr>
        <p:txBody>
          <a:bodyPr wrap="square" lIns="0" tIns="0" rIns="0" bIns="0" rtlCol="0" anchor="t"/>
          <a:lstStyle/>
          <a:p>
            <a:pPr indent="0" marL="0">
              <a:buNone/>
            </a:pPr>
            <a:r>
              <a:rPr lang="en-US" sz="1200" dirty="0">
                <a:solidFill>
                  <a:srgbClr val="DBE3EA"/>
                </a:solidFill>
                <a:latin typeface="Calibri" pitchFamily="34" charset="0"/>
                <a:ea typeface="Calibri" pitchFamily="34" charset="-122"/>
                <a:cs typeface="Calibri" pitchFamily="34" charset="-120"/>
              </a:rPr>
              <a:t>Spread, commission, slippage, overnight financing — high-turnover mein zyada asar</a:t>
            </a:r>
            <a:endParaRPr lang="en-US" sz="1200" dirty="0"/>
          </a:p>
        </p:txBody>
      </p:sp>
      <p:sp>
        <p:nvSpPr>
          <p:cNvPr id="11" name="Text 7"/>
          <p:cNvSpPr txBox="1"/>
          <p:nvPr/>
        </p:nvSpPr>
        <p:spPr>
          <a:xfrm>
            <a:off x="4709160" y="3611880"/>
            <a:ext cx="3977640" cy="274320"/>
          </a:xfrm>
          <a:prstGeom prst="rect">
            <a:avLst/>
          </a:prstGeom>
          <a:noFill/>
          <a:ln/>
        </p:spPr>
        <p:txBody>
          <a:bodyPr wrap="square" lIns="0" tIns="0" rIns="0" bIns="0" rtlCol="0" anchor="ctr"/>
          <a:lstStyle/>
          <a:p>
            <a:pPr indent="0" marL="0">
              <a:buNone/>
            </a:pPr>
            <a:r>
              <a:rPr lang="en-US" sz="1300" b="1" dirty="0">
                <a:solidFill>
                  <a:srgbClr val="C8FF4D"/>
                </a:solidFill>
                <a:latin typeface="Calibri" pitchFamily="34" charset="0"/>
                <a:ea typeface="Calibri" pitchFamily="34" charset="-122"/>
                <a:cs typeface="Calibri" pitchFamily="34" charset="-120"/>
              </a:rPr>
              <a:t>Capacity &amp; signal degradation</a:t>
            </a:r>
            <a:endParaRPr lang="en-US" sz="1300" dirty="0"/>
          </a:p>
        </p:txBody>
      </p:sp>
      <p:sp>
        <p:nvSpPr>
          <p:cNvPr id="12" name="Text 8"/>
          <p:cNvSpPr txBox="1"/>
          <p:nvPr/>
        </p:nvSpPr>
        <p:spPr>
          <a:xfrm>
            <a:off x="4709160" y="3904488"/>
            <a:ext cx="3977640" cy="502920"/>
          </a:xfrm>
          <a:prstGeom prst="rect">
            <a:avLst/>
          </a:prstGeom>
          <a:noFill/>
          <a:ln/>
        </p:spPr>
        <p:txBody>
          <a:bodyPr wrap="square" lIns="0" tIns="0" rIns="0" bIns="0" rtlCol="0" anchor="t"/>
          <a:lstStyle/>
          <a:p>
            <a:pPr indent="0" marL="0">
              <a:buNone/>
            </a:pPr>
            <a:r>
              <a:rPr lang="en-US" sz="1200" dirty="0">
                <a:solidFill>
                  <a:srgbClr val="DBE3EA"/>
                </a:solidFill>
                <a:latin typeface="Calibri" pitchFamily="34" charset="0"/>
                <a:ea typeface="Calibri" pitchFamily="34" charset="-122"/>
                <a:cs typeface="Calibri" pitchFamily="34" charset="-120"/>
              </a:rPr>
              <a:t>Zyada capital market move karta hai; zyada traders use karein to pattern kam effective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F1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b="1" spc="300" kern="0" dirty="0">
                <a:solidFill>
                  <a:srgbClr val="C8FF4D"/>
                </a:solidFill>
                <a:latin typeface="Calibri" pitchFamily="34" charset="0"/>
                <a:ea typeface="Calibri" pitchFamily="34" charset="-122"/>
                <a:cs typeface="Calibri" pitchFamily="34" charset="-120"/>
              </a:rPr>
              <a:t>SYSTEMATIC TRADING</a:t>
            </a:r>
            <a:endParaRPr lang="en-US" sz="10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dirty="0">
                <a:solidFill>
                  <a:srgbClr val="DBE3EA"/>
                </a:solidFill>
                <a:latin typeface="Cambria" pitchFamily="34" charset="0"/>
                <a:ea typeface="Cambria" pitchFamily="34" charset="-122"/>
                <a:cs typeface="Cambria" pitchFamily="34" charset="-120"/>
              </a:rPr>
              <a:t>Paanch common mistakes</a:t>
            </a:r>
            <a:endParaRPr lang="en-US" sz="2800" dirty="0"/>
          </a:p>
        </p:txBody>
      </p:sp>
      <p:sp>
        <p:nvSpPr>
          <p:cNvPr id="4" name="Text 2"/>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8A97A4"/>
                </a:solidFill>
                <a:latin typeface="Calibri" pitchFamily="34" charset="0"/>
                <a:ea typeface="Calibri" pitchFamily="34" charset="-122"/>
                <a:cs typeface="Calibri" pitchFamily="34" charset="-120"/>
              </a:rPr>
              <a:t>20</a:t>
            </a:r>
            <a:endParaRPr lang="en-US" sz="900" dirty="0"/>
          </a:p>
        </p:txBody>
      </p:sp>
      <p:sp>
        <p:nvSpPr>
          <p:cNvPr id="5" name="Shape 3"/>
          <p:cNvSpPr/>
          <p:nvPr/>
        </p:nvSpPr>
        <p:spPr>
          <a:xfrm>
            <a:off x="502920" y="1325880"/>
            <a:ext cx="384048" cy="384048"/>
          </a:xfrm>
          <a:prstGeom prst="ellipse">
            <a:avLst/>
          </a:prstGeom>
          <a:solidFill>
            <a:srgbClr val="141C26"/>
          </a:solidFill>
          <a:ln w="19050">
            <a:solidFill>
              <a:srgbClr val="C8FF4D"/>
            </a:solidFill>
            <a:prstDash val="solid"/>
          </a:ln>
        </p:spPr>
      </p:sp>
      <p:sp>
        <p:nvSpPr>
          <p:cNvPr id="6" name="Text 4"/>
          <p:cNvSpPr txBox="1"/>
          <p:nvPr/>
        </p:nvSpPr>
        <p:spPr>
          <a:xfrm>
            <a:off x="502920" y="1325880"/>
            <a:ext cx="384048" cy="384048"/>
          </a:xfrm>
          <a:prstGeom prst="rect">
            <a:avLst/>
          </a:prstGeom>
          <a:noFill/>
          <a:ln/>
        </p:spPr>
        <p:txBody>
          <a:bodyPr wrap="square" lIns="0" tIns="0" rIns="0" bIns="0" rtlCol="0" anchor="ctr"/>
          <a:lstStyle/>
          <a:p>
            <a:pPr algn="ctr" indent="0" marL="0">
              <a:buNone/>
            </a:pPr>
            <a:r>
              <a:rPr lang="en-US" sz="1200" b="1" dirty="0">
                <a:solidFill>
                  <a:srgbClr val="C8FF4D"/>
                </a:solidFill>
                <a:latin typeface="Calibri" pitchFamily="34" charset="0"/>
                <a:ea typeface="Calibri" pitchFamily="34" charset="-122"/>
                <a:cs typeface="Calibri" pitchFamily="34" charset="-120"/>
              </a:rPr>
              <a:t>01</a:t>
            </a:r>
            <a:endParaRPr lang="en-US" sz="1200" dirty="0"/>
          </a:p>
        </p:txBody>
      </p:sp>
      <p:sp>
        <p:nvSpPr>
          <p:cNvPr id="7" name="Text 5"/>
          <p:cNvSpPr txBox="1"/>
          <p:nvPr/>
        </p:nvSpPr>
        <p:spPr>
          <a:xfrm>
            <a:off x="1051560" y="1325880"/>
            <a:ext cx="3291840" cy="384048"/>
          </a:xfrm>
          <a:prstGeom prst="rect">
            <a:avLst/>
          </a:prstGeom>
          <a:noFill/>
          <a:ln/>
        </p:spPr>
        <p:txBody>
          <a:bodyPr wrap="square" lIns="0" tIns="0" rIns="0" bIns="0" rtlCol="0" anchor="ctr"/>
          <a:lstStyle/>
          <a:p>
            <a:pPr indent="0" marL="0">
              <a:buNone/>
            </a:pPr>
            <a:r>
              <a:rPr lang="en-US" sz="1400" dirty="0">
                <a:solidFill>
                  <a:srgbClr val="DBE3EA"/>
                </a:solidFill>
                <a:latin typeface="Calibri" pitchFamily="34" charset="0"/>
                <a:ea typeface="Calibri" pitchFamily="34" charset="-122"/>
                <a:cs typeface="Calibri" pitchFamily="34" charset="-120"/>
              </a:rPr>
              <a:t>Model ko over-complicate karna</a:t>
            </a:r>
            <a:endParaRPr lang="en-US" sz="1400" dirty="0"/>
          </a:p>
        </p:txBody>
      </p:sp>
      <p:sp>
        <p:nvSpPr>
          <p:cNvPr id="8" name="Shape 6"/>
          <p:cNvSpPr/>
          <p:nvPr/>
        </p:nvSpPr>
        <p:spPr>
          <a:xfrm>
            <a:off x="502920" y="1929384"/>
            <a:ext cx="384048" cy="384048"/>
          </a:xfrm>
          <a:prstGeom prst="ellipse">
            <a:avLst/>
          </a:prstGeom>
          <a:solidFill>
            <a:srgbClr val="141C26"/>
          </a:solidFill>
          <a:ln w="19050">
            <a:solidFill>
              <a:srgbClr val="C8FF4D"/>
            </a:solidFill>
            <a:prstDash val="solid"/>
          </a:ln>
        </p:spPr>
      </p:sp>
      <p:sp>
        <p:nvSpPr>
          <p:cNvPr id="9" name="Text 7"/>
          <p:cNvSpPr txBox="1"/>
          <p:nvPr/>
        </p:nvSpPr>
        <p:spPr>
          <a:xfrm>
            <a:off x="502920" y="1929384"/>
            <a:ext cx="384048" cy="384048"/>
          </a:xfrm>
          <a:prstGeom prst="rect">
            <a:avLst/>
          </a:prstGeom>
          <a:noFill/>
          <a:ln/>
        </p:spPr>
        <p:txBody>
          <a:bodyPr wrap="square" lIns="0" tIns="0" rIns="0" bIns="0" rtlCol="0" anchor="ctr"/>
          <a:lstStyle/>
          <a:p>
            <a:pPr algn="ctr" indent="0" marL="0">
              <a:buNone/>
            </a:pPr>
            <a:r>
              <a:rPr lang="en-US" sz="1200" b="1" dirty="0">
                <a:solidFill>
                  <a:srgbClr val="C8FF4D"/>
                </a:solidFill>
                <a:latin typeface="Calibri" pitchFamily="34" charset="0"/>
                <a:ea typeface="Calibri" pitchFamily="34" charset="-122"/>
                <a:cs typeface="Calibri" pitchFamily="34" charset="-120"/>
              </a:rPr>
              <a:t>02</a:t>
            </a:r>
            <a:endParaRPr lang="en-US" sz="1200" dirty="0"/>
          </a:p>
        </p:txBody>
      </p:sp>
      <p:sp>
        <p:nvSpPr>
          <p:cNvPr id="10" name="Text 8"/>
          <p:cNvSpPr txBox="1"/>
          <p:nvPr/>
        </p:nvSpPr>
        <p:spPr>
          <a:xfrm>
            <a:off x="1051560" y="1929384"/>
            <a:ext cx="3291840" cy="384048"/>
          </a:xfrm>
          <a:prstGeom prst="rect">
            <a:avLst/>
          </a:prstGeom>
          <a:noFill/>
          <a:ln/>
        </p:spPr>
        <p:txBody>
          <a:bodyPr wrap="square" lIns="0" tIns="0" rIns="0" bIns="0" rtlCol="0" anchor="ctr"/>
          <a:lstStyle/>
          <a:p>
            <a:pPr indent="0" marL="0">
              <a:buNone/>
            </a:pPr>
            <a:r>
              <a:rPr lang="en-US" sz="1400" dirty="0">
                <a:solidFill>
                  <a:srgbClr val="DBE3EA"/>
                </a:solidFill>
                <a:latin typeface="Calibri" pitchFamily="34" charset="0"/>
                <a:ea typeface="Calibri" pitchFamily="34" charset="-122"/>
                <a:cs typeface="Calibri" pitchFamily="34" charset="-120"/>
              </a:rPr>
              <a:t>Bina clear rationale ke signals</a:t>
            </a:r>
            <a:endParaRPr lang="en-US" sz="1400" dirty="0"/>
          </a:p>
        </p:txBody>
      </p:sp>
      <p:sp>
        <p:nvSpPr>
          <p:cNvPr id="11" name="Shape 9"/>
          <p:cNvSpPr/>
          <p:nvPr/>
        </p:nvSpPr>
        <p:spPr>
          <a:xfrm>
            <a:off x="502920" y="2532888"/>
            <a:ext cx="384048" cy="384048"/>
          </a:xfrm>
          <a:prstGeom prst="ellipse">
            <a:avLst/>
          </a:prstGeom>
          <a:solidFill>
            <a:srgbClr val="141C26"/>
          </a:solidFill>
          <a:ln w="19050">
            <a:solidFill>
              <a:srgbClr val="C8FF4D"/>
            </a:solidFill>
            <a:prstDash val="solid"/>
          </a:ln>
        </p:spPr>
      </p:sp>
      <p:sp>
        <p:nvSpPr>
          <p:cNvPr id="12" name="Text 10"/>
          <p:cNvSpPr txBox="1"/>
          <p:nvPr/>
        </p:nvSpPr>
        <p:spPr>
          <a:xfrm>
            <a:off x="502920" y="2532888"/>
            <a:ext cx="384048" cy="384048"/>
          </a:xfrm>
          <a:prstGeom prst="rect">
            <a:avLst/>
          </a:prstGeom>
          <a:noFill/>
          <a:ln/>
        </p:spPr>
        <p:txBody>
          <a:bodyPr wrap="square" lIns="0" tIns="0" rIns="0" bIns="0" rtlCol="0" anchor="ctr"/>
          <a:lstStyle/>
          <a:p>
            <a:pPr algn="ctr" indent="0" marL="0">
              <a:buNone/>
            </a:pPr>
            <a:r>
              <a:rPr lang="en-US" sz="1200" b="1" dirty="0">
                <a:solidFill>
                  <a:srgbClr val="C8FF4D"/>
                </a:solidFill>
                <a:latin typeface="Calibri" pitchFamily="34" charset="0"/>
                <a:ea typeface="Calibri" pitchFamily="34" charset="-122"/>
                <a:cs typeface="Calibri" pitchFamily="34" charset="-120"/>
              </a:rPr>
              <a:t>03</a:t>
            </a:r>
            <a:endParaRPr lang="en-US" sz="1200" dirty="0"/>
          </a:p>
        </p:txBody>
      </p:sp>
      <p:sp>
        <p:nvSpPr>
          <p:cNvPr id="13" name="Text 11"/>
          <p:cNvSpPr txBox="1"/>
          <p:nvPr/>
        </p:nvSpPr>
        <p:spPr>
          <a:xfrm>
            <a:off x="1051560" y="2532888"/>
            <a:ext cx="3291840" cy="384048"/>
          </a:xfrm>
          <a:prstGeom prst="rect">
            <a:avLst/>
          </a:prstGeom>
          <a:noFill/>
          <a:ln/>
        </p:spPr>
        <p:txBody>
          <a:bodyPr wrap="square" lIns="0" tIns="0" rIns="0" bIns="0" rtlCol="0" anchor="ctr"/>
          <a:lstStyle/>
          <a:p>
            <a:pPr indent="0" marL="0">
              <a:buNone/>
            </a:pPr>
            <a:r>
              <a:rPr lang="en-US" sz="1400" dirty="0">
                <a:solidFill>
                  <a:srgbClr val="DBE3EA"/>
                </a:solidFill>
                <a:latin typeface="Calibri" pitchFamily="34" charset="0"/>
                <a:ea typeface="Calibri" pitchFamily="34" charset="-122"/>
                <a:cs typeface="Calibri" pitchFamily="34" charset="-120"/>
              </a:rPr>
              <a:t>Bahut kam data par testing</a:t>
            </a:r>
            <a:endParaRPr lang="en-US" sz="1400" dirty="0"/>
          </a:p>
        </p:txBody>
      </p:sp>
      <p:sp>
        <p:nvSpPr>
          <p:cNvPr id="14" name="Shape 12"/>
          <p:cNvSpPr/>
          <p:nvPr/>
        </p:nvSpPr>
        <p:spPr>
          <a:xfrm>
            <a:off x="502920" y="3136392"/>
            <a:ext cx="384048" cy="384048"/>
          </a:xfrm>
          <a:prstGeom prst="ellipse">
            <a:avLst/>
          </a:prstGeom>
          <a:solidFill>
            <a:srgbClr val="141C26"/>
          </a:solidFill>
          <a:ln w="19050">
            <a:solidFill>
              <a:srgbClr val="C8FF4D"/>
            </a:solidFill>
            <a:prstDash val="solid"/>
          </a:ln>
        </p:spPr>
      </p:sp>
      <p:sp>
        <p:nvSpPr>
          <p:cNvPr id="15" name="Text 13"/>
          <p:cNvSpPr txBox="1"/>
          <p:nvPr/>
        </p:nvSpPr>
        <p:spPr>
          <a:xfrm>
            <a:off x="502920" y="3136392"/>
            <a:ext cx="384048" cy="384048"/>
          </a:xfrm>
          <a:prstGeom prst="rect">
            <a:avLst/>
          </a:prstGeom>
          <a:noFill/>
          <a:ln/>
        </p:spPr>
        <p:txBody>
          <a:bodyPr wrap="square" lIns="0" tIns="0" rIns="0" bIns="0" rtlCol="0" anchor="ctr"/>
          <a:lstStyle/>
          <a:p>
            <a:pPr algn="ctr" indent="0" marL="0">
              <a:buNone/>
            </a:pPr>
            <a:r>
              <a:rPr lang="en-US" sz="1200" b="1" dirty="0">
                <a:solidFill>
                  <a:srgbClr val="C8FF4D"/>
                </a:solidFill>
                <a:latin typeface="Calibri" pitchFamily="34" charset="0"/>
                <a:ea typeface="Calibri" pitchFamily="34" charset="-122"/>
                <a:cs typeface="Calibri" pitchFamily="34" charset="-120"/>
              </a:rPr>
              <a:t>04</a:t>
            </a:r>
            <a:endParaRPr lang="en-US" sz="1200" dirty="0"/>
          </a:p>
        </p:txBody>
      </p:sp>
      <p:sp>
        <p:nvSpPr>
          <p:cNvPr id="16" name="Text 14"/>
          <p:cNvSpPr txBox="1"/>
          <p:nvPr/>
        </p:nvSpPr>
        <p:spPr>
          <a:xfrm>
            <a:off x="1051560" y="3136392"/>
            <a:ext cx="3291840" cy="384048"/>
          </a:xfrm>
          <a:prstGeom prst="rect">
            <a:avLst/>
          </a:prstGeom>
          <a:noFill/>
          <a:ln/>
        </p:spPr>
        <p:txBody>
          <a:bodyPr wrap="square" lIns="0" tIns="0" rIns="0" bIns="0" rtlCol="0" anchor="ctr"/>
          <a:lstStyle/>
          <a:p>
            <a:pPr indent="0" marL="0">
              <a:buNone/>
            </a:pPr>
            <a:r>
              <a:rPr lang="en-US" sz="1400" dirty="0">
                <a:solidFill>
                  <a:srgbClr val="DBE3EA"/>
                </a:solidFill>
                <a:latin typeface="Calibri" pitchFamily="34" charset="0"/>
                <a:ea typeface="Calibri" pitchFamily="34" charset="-122"/>
                <a:cs typeface="Calibri" pitchFamily="34" charset="-120"/>
              </a:rPr>
              <a:t>Market regime change ignore karna</a:t>
            </a:r>
            <a:endParaRPr lang="en-US" sz="1400" dirty="0"/>
          </a:p>
        </p:txBody>
      </p:sp>
      <p:sp>
        <p:nvSpPr>
          <p:cNvPr id="17" name="Shape 15"/>
          <p:cNvSpPr/>
          <p:nvPr/>
        </p:nvSpPr>
        <p:spPr>
          <a:xfrm>
            <a:off x="502920" y="3739896"/>
            <a:ext cx="384048" cy="384048"/>
          </a:xfrm>
          <a:prstGeom prst="ellipse">
            <a:avLst/>
          </a:prstGeom>
          <a:solidFill>
            <a:srgbClr val="141C26"/>
          </a:solidFill>
          <a:ln w="19050">
            <a:solidFill>
              <a:srgbClr val="C8FF4D"/>
            </a:solidFill>
            <a:prstDash val="solid"/>
          </a:ln>
        </p:spPr>
      </p:sp>
      <p:sp>
        <p:nvSpPr>
          <p:cNvPr id="18" name="Text 16"/>
          <p:cNvSpPr txBox="1"/>
          <p:nvPr/>
        </p:nvSpPr>
        <p:spPr>
          <a:xfrm>
            <a:off x="502920" y="3739896"/>
            <a:ext cx="384048" cy="384048"/>
          </a:xfrm>
          <a:prstGeom prst="rect">
            <a:avLst/>
          </a:prstGeom>
          <a:noFill/>
          <a:ln/>
        </p:spPr>
        <p:txBody>
          <a:bodyPr wrap="square" lIns="0" tIns="0" rIns="0" bIns="0" rtlCol="0" anchor="ctr"/>
          <a:lstStyle/>
          <a:p>
            <a:pPr algn="ctr" indent="0" marL="0">
              <a:buNone/>
            </a:pPr>
            <a:r>
              <a:rPr lang="en-US" sz="1200" b="1" dirty="0">
                <a:solidFill>
                  <a:srgbClr val="C8FF4D"/>
                </a:solidFill>
                <a:latin typeface="Calibri" pitchFamily="34" charset="0"/>
                <a:ea typeface="Calibri" pitchFamily="34" charset="-122"/>
                <a:cs typeface="Calibri" pitchFamily="34" charset="-120"/>
              </a:rPr>
              <a:t>05</a:t>
            </a:r>
            <a:endParaRPr lang="en-US" sz="1200" dirty="0"/>
          </a:p>
        </p:txBody>
      </p:sp>
      <p:sp>
        <p:nvSpPr>
          <p:cNvPr id="19" name="Text 17"/>
          <p:cNvSpPr txBox="1"/>
          <p:nvPr/>
        </p:nvSpPr>
        <p:spPr>
          <a:xfrm>
            <a:off x="1051560" y="3739896"/>
            <a:ext cx="3291840" cy="384048"/>
          </a:xfrm>
          <a:prstGeom prst="rect">
            <a:avLst/>
          </a:prstGeom>
          <a:noFill/>
          <a:ln/>
        </p:spPr>
        <p:txBody>
          <a:bodyPr wrap="square" lIns="0" tIns="0" rIns="0" bIns="0" rtlCol="0" anchor="ctr"/>
          <a:lstStyle/>
          <a:p>
            <a:pPr indent="0" marL="0">
              <a:buNone/>
            </a:pPr>
            <a:r>
              <a:rPr lang="en-US" sz="1400" dirty="0">
                <a:solidFill>
                  <a:srgbClr val="DBE3EA"/>
                </a:solidFill>
                <a:latin typeface="Calibri" pitchFamily="34" charset="0"/>
                <a:ea typeface="Calibri" pitchFamily="34" charset="-122"/>
                <a:cs typeface="Calibri" pitchFamily="34" charset="-120"/>
              </a:rPr>
              <a:t>Live conditions monitor na karna</a:t>
            </a:r>
            <a:endParaRPr lang="en-US" sz="1400" dirty="0"/>
          </a:p>
        </p:txBody>
      </p:sp>
      <p:sp>
        <p:nvSpPr>
          <p:cNvPr id="20" name="Shape 18"/>
          <p:cNvSpPr/>
          <p:nvPr/>
        </p:nvSpPr>
        <p:spPr>
          <a:xfrm>
            <a:off x="4507992" y="1353312"/>
            <a:ext cx="4197096" cy="2376869"/>
          </a:xfrm>
          <a:prstGeom prst="rect">
            <a:avLst/>
          </a:prstGeom>
          <a:solidFill>
            <a:srgbClr val="2A3542"/>
          </a:solidFill>
          <a:ln w="12700">
            <a:solidFill>
              <a:srgbClr val="2A3542"/>
            </a:solidFill>
            <a:prstDash val="solid"/>
          </a:ln>
          <a:effectLst>
            <a:outerShdw sx="100000" sy="100000" kx="0" ky="0" algn="bl" rotWithShape="0" blurRad="152400" dist="38100" dir="5400000">
              <a:srgbClr val="000000">
                <a:alpha val="45000"/>
              </a:srgbClr>
            </a:outerShdw>
          </a:effectLst>
        </p:spPr>
      </p:sp>
      <p:pic>
        <p:nvPicPr>
          <p:cNvPr id="21" name="Image 0" descr="Video frame, scene S32">    </p:cNvPr>
          <p:cNvPicPr>
            <a:picLocks noChangeAspect="1"/>
          </p:cNvPicPr>
          <p:nvPr/>
        </p:nvPicPr>
        <p:blipFill>
          <a:blip r:embed="rId1"/>
          <a:stretch>
            <a:fillRect/>
          </a:stretch>
        </p:blipFill>
        <p:spPr>
          <a:xfrm>
            <a:off x="4526280" y="1371600"/>
            <a:ext cx="4160520" cy="234029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F14"/>
        </a:solidFill>
      </p:bgPr>
    </p:bg>
    <p:spTree>
      <p:nvGrpSpPr>
        <p:cNvPr id="1" name=""/>
        <p:cNvGrpSpPr/>
        <p:nvPr/>
      </p:nvGrpSpPr>
      <p:grpSpPr>
        <a:xfrm>
          <a:off x="0" y="0"/>
          <a:ext cx="0" cy="0"/>
          <a:chOff x="0" y="0"/>
          <a:chExt cx="0" cy="0"/>
        </a:xfrm>
      </p:grpSpPr>
      <p:sp>
        <p:nvSpPr>
          <p:cNvPr id="2" name="Text 0"/>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8A97A4"/>
                </a:solidFill>
                <a:latin typeface="Calibri" pitchFamily="34" charset="0"/>
                <a:ea typeface="Calibri" pitchFamily="34" charset="-122"/>
                <a:cs typeface="Calibri" pitchFamily="34" charset="-120"/>
              </a:rPr>
              <a:t>21</a:t>
            </a:r>
            <a:endParaRPr lang="en-US" sz="900" dirty="0"/>
          </a:p>
        </p:txBody>
      </p:sp>
      <p:sp>
        <p:nvSpPr>
          <p:cNvPr id="3" name="Text 1"/>
          <p:cNvSpPr txBox="1"/>
          <p:nvPr/>
        </p:nvSpPr>
        <p:spPr>
          <a:xfrm>
            <a:off x="731520" y="1188720"/>
            <a:ext cx="7680960" cy="274320"/>
          </a:xfrm>
          <a:prstGeom prst="rect">
            <a:avLst/>
          </a:prstGeom>
          <a:noFill/>
          <a:ln/>
        </p:spPr>
        <p:txBody>
          <a:bodyPr wrap="square" lIns="0" tIns="0" rIns="0" bIns="0" rtlCol="0" anchor="ctr"/>
          <a:lstStyle/>
          <a:p>
            <a:pPr algn="ctr" indent="0" marL="0">
              <a:buNone/>
            </a:pPr>
            <a:r>
              <a:rPr lang="en-US" sz="1100" b="1" spc="400" kern="0" dirty="0">
                <a:solidFill>
                  <a:srgbClr val="C8FF4D"/>
                </a:solidFill>
                <a:latin typeface="Calibri" pitchFamily="34" charset="0"/>
                <a:ea typeface="Calibri" pitchFamily="34" charset="-122"/>
                <a:cs typeface="Calibri" pitchFamily="34" charset="-120"/>
              </a:rPr>
              <a:t>CLOSING</a:t>
            </a:r>
            <a:endParaRPr lang="en-US" sz="1100" dirty="0"/>
          </a:p>
        </p:txBody>
      </p:sp>
      <p:sp>
        <p:nvSpPr>
          <p:cNvPr id="4" name="Text 2"/>
          <p:cNvSpPr txBox="1"/>
          <p:nvPr/>
        </p:nvSpPr>
        <p:spPr>
          <a:xfrm>
            <a:off x="457200" y="1600200"/>
            <a:ext cx="8229600" cy="548640"/>
          </a:xfrm>
          <a:prstGeom prst="rect">
            <a:avLst/>
          </a:prstGeom>
          <a:noFill/>
          <a:ln/>
        </p:spPr>
        <p:txBody>
          <a:bodyPr wrap="square" lIns="0" tIns="0" rIns="0" bIns="0" rtlCol="0" anchor="ctr"/>
          <a:lstStyle/>
          <a:p>
            <a:pPr algn="ctr" indent="0" marL="0">
              <a:buNone/>
            </a:pPr>
            <a:r>
              <a:rPr lang="en-US" sz="2400" dirty="0">
                <a:solidFill>
                  <a:srgbClr val="8A97A4"/>
                </a:solidFill>
                <a:latin typeface="Cambria" pitchFamily="34" charset="0"/>
                <a:ea typeface="Cambria" pitchFamily="34" charset="-122"/>
                <a:cs typeface="Cambria" pitchFamily="34" charset="-120"/>
              </a:rPr>
              <a:t>Aap Medallion ko copy nahi kar sakte.</a:t>
            </a:r>
            <a:endParaRPr lang="en-US" sz="2400" dirty="0"/>
          </a:p>
        </p:txBody>
      </p:sp>
      <p:sp>
        <p:nvSpPr>
          <p:cNvPr id="5" name="Text 3"/>
          <p:cNvSpPr txBox="1"/>
          <p:nvPr/>
        </p:nvSpPr>
        <p:spPr>
          <a:xfrm>
            <a:off x="457200" y="2194560"/>
            <a:ext cx="8229600" cy="548640"/>
          </a:xfrm>
          <a:prstGeom prst="rect">
            <a:avLst/>
          </a:prstGeom>
          <a:noFill/>
          <a:ln/>
        </p:spPr>
        <p:txBody>
          <a:bodyPr wrap="square" lIns="0" tIns="0" rIns="0" bIns="0" rtlCol="0" anchor="ctr"/>
          <a:lstStyle/>
          <a:p>
            <a:pPr algn="ctr" indent="0" marL="0">
              <a:buNone/>
            </a:pPr>
            <a:r>
              <a:rPr lang="en-US" sz="2400" dirty="0">
                <a:solidFill>
                  <a:srgbClr val="DBE3EA"/>
                </a:solidFill>
                <a:latin typeface="Cambria" pitchFamily="34" charset="0"/>
                <a:ea typeface="Cambria" pitchFamily="34" charset="-122"/>
                <a:cs typeface="Cambria" pitchFamily="34" charset="-120"/>
              </a:rPr>
              <a:t>Lekin uska discipline zaroor copy kar sakte hain.</a:t>
            </a:r>
            <a:endParaRPr lang="en-US" sz="2400" dirty="0"/>
          </a:p>
        </p:txBody>
      </p:sp>
      <p:sp>
        <p:nvSpPr>
          <p:cNvPr id="6" name="Text 4"/>
          <p:cNvSpPr txBox="1"/>
          <p:nvPr/>
        </p:nvSpPr>
        <p:spPr>
          <a:xfrm>
            <a:off x="731520" y="3017520"/>
            <a:ext cx="7680960" cy="548640"/>
          </a:xfrm>
          <a:prstGeom prst="rect">
            <a:avLst/>
          </a:prstGeom>
          <a:noFill/>
          <a:ln/>
        </p:spPr>
        <p:txBody>
          <a:bodyPr wrap="square" lIns="0" tIns="0" rIns="0" bIns="0" rtlCol="0" anchor="ctr"/>
          <a:lstStyle/>
          <a:p>
            <a:pPr algn="ctr" indent="0" marL="0">
              <a:buNone/>
            </a:pPr>
            <a:r>
              <a:rPr lang="en-US" sz="1300" dirty="0">
                <a:solidFill>
                  <a:srgbClr val="C8FF4D"/>
                </a:solidFill>
                <a:latin typeface="Calibri" pitchFamily="34" charset="0"/>
                <a:ea typeface="Calibri" pitchFamily="34" charset="-122"/>
                <a:cs typeface="Calibri" pitchFamily="34" charset="-120"/>
              </a:rPr>
              <a:t>Evidence dhoondho → test karo → discipline se trade karo → monitor karo → jo kaam na kare, remove karo</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F1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000" b="1" spc="300" kern="0" dirty="0">
                <a:solidFill>
                  <a:srgbClr val="C8FF4D"/>
                </a:solidFill>
                <a:latin typeface="Calibri" pitchFamily="34" charset="0"/>
                <a:ea typeface="Calibri" pitchFamily="34" charset="-122"/>
                <a:cs typeface="Calibri" pitchFamily="34" charset="-120"/>
              </a:rPr>
              <a:t>DISCLAIMER</a:t>
            </a:r>
            <a:endParaRPr lang="en-US" sz="10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dirty="0">
                <a:solidFill>
                  <a:srgbClr val="DBE3EA"/>
                </a:solidFill>
                <a:latin typeface="Cambria" pitchFamily="34" charset="0"/>
                <a:ea typeface="Cambria" pitchFamily="34" charset="-122"/>
                <a:cs typeface="Cambria" pitchFamily="34" charset="-120"/>
              </a:rPr>
              <a:t>Sirf educational purpose ke liye</a:t>
            </a:r>
            <a:endParaRPr lang="en-US" sz="2800" dirty="0"/>
          </a:p>
        </p:txBody>
      </p:sp>
      <p:sp>
        <p:nvSpPr>
          <p:cNvPr id="4" name="Text 2"/>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8A97A4"/>
                </a:solidFill>
                <a:latin typeface="Calibri" pitchFamily="34" charset="0"/>
                <a:ea typeface="Calibri" pitchFamily="34" charset="-122"/>
                <a:cs typeface="Calibri" pitchFamily="34" charset="-120"/>
              </a:rPr>
              <a:t>22</a:t>
            </a:r>
            <a:endParaRPr lang="en-US" sz="900" dirty="0"/>
          </a:p>
        </p:txBody>
      </p:sp>
      <p:sp>
        <p:nvSpPr>
          <p:cNvPr id="5" name="Text 3"/>
          <p:cNvSpPr txBox="1"/>
          <p:nvPr/>
        </p:nvSpPr>
        <p:spPr>
          <a:xfrm>
            <a:off x="457200" y="1371600"/>
            <a:ext cx="8229600" cy="3200400"/>
          </a:xfrm>
          <a:prstGeom prst="rect">
            <a:avLst/>
          </a:prstGeom>
          <a:noFill/>
          <a:ln/>
        </p:spPr>
        <p:txBody>
          <a:bodyPr wrap="square" lIns="0" tIns="0" rIns="0" bIns="0" rtlCol="0" anchor="t"/>
          <a:lstStyle/>
          <a:p>
            <a:pPr indent="0" marL="0">
              <a:spcAft>
                <a:spcPts val="900"/>
              </a:spcAft>
              <a:buNone/>
            </a:pPr>
            <a:r>
              <a:rPr lang="en-US" sz="1500" b="1" dirty="0">
                <a:solidFill>
                  <a:srgbClr val="C8FF4D"/>
                </a:solidFill>
                <a:latin typeface="Calibri" pitchFamily="34" charset="0"/>
                <a:ea typeface="Calibri" pitchFamily="34" charset="-122"/>
                <a:cs typeface="Calibri" pitchFamily="34" charset="-120"/>
              </a:rPr>
              <a:t>→ </a:t>
            </a:r>
            <a:pPr indent="0" marL="0">
              <a:spcAft>
                <a:spcPts val="900"/>
              </a:spcAft>
              <a:buNone/>
            </a:pPr>
            <a:r>
              <a:rPr lang="en-US" sz="1500" dirty="0">
                <a:solidFill>
                  <a:srgbClr val="DBE3EA"/>
                </a:solidFill>
                <a:latin typeface="Calibri" pitchFamily="34" charset="0"/>
                <a:ea typeface="Calibri" pitchFamily="34" charset="-122"/>
                <a:cs typeface="Calibri" pitchFamily="34" charset="-120"/>
              </a:rPr>
              <a:t>Yeh presentation aur video sirf education ke liye hain — investment advice nahi</a:t>
            </a:r>
            <a:endParaRPr lang="en-US" sz="1500" dirty="0"/>
          </a:p>
          <a:p>
            <a:pPr indent="0" marL="0">
              <a:spcAft>
                <a:spcPts val="900"/>
              </a:spcAft>
              <a:buNone/>
            </a:pPr>
            <a:r>
              <a:rPr lang="en-US" sz="1500" b="1" dirty="0">
                <a:solidFill>
                  <a:srgbClr val="C8FF4D"/>
                </a:solidFill>
                <a:latin typeface="Calibri" pitchFamily="34" charset="0"/>
                <a:ea typeface="Calibri" pitchFamily="34" charset="-122"/>
                <a:cs typeface="Calibri" pitchFamily="34" charset="-120"/>
              </a:rPr>
              <a:t>→ </a:t>
            </a:r>
            <a:pPr indent="0" marL="0">
              <a:spcAft>
                <a:spcPts val="900"/>
              </a:spcAft>
              <a:buNone/>
            </a:pPr>
            <a:r>
              <a:rPr lang="en-US" sz="1500" dirty="0">
                <a:solidFill>
                  <a:srgbClr val="DBE3EA"/>
                </a:solidFill>
                <a:latin typeface="Calibri" pitchFamily="34" charset="0"/>
                <a:ea typeface="Calibri" pitchFamily="34" charset="-122"/>
                <a:cs typeface="Calibri" pitchFamily="34" charset="-120"/>
              </a:rPr>
              <a:t>Historical performance future results ki guarantee nahi hoti</a:t>
            </a:r>
            <a:endParaRPr lang="en-US" sz="1500" dirty="0"/>
          </a:p>
          <a:p>
            <a:pPr indent="0" marL="0">
              <a:spcAft>
                <a:spcPts val="900"/>
              </a:spcAft>
              <a:buNone/>
            </a:pPr>
            <a:r>
              <a:rPr lang="en-US" sz="1500" b="1" dirty="0">
                <a:solidFill>
                  <a:srgbClr val="C8FF4D"/>
                </a:solidFill>
                <a:latin typeface="Calibri" pitchFamily="34" charset="0"/>
                <a:ea typeface="Calibri" pitchFamily="34" charset="-122"/>
                <a:cs typeface="Calibri" pitchFamily="34" charset="-120"/>
              </a:rPr>
              <a:t>→ </a:t>
            </a:r>
            <a:pPr indent="0" marL="0">
              <a:spcAft>
                <a:spcPts val="900"/>
              </a:spcAft>
              <a:buNone/>
            </a:pPr>
            <a:r>
              <a:rPr lang="en-US" sz="1500" dirty="0">
                <a:solidFill>
                  <a:srgbClr val="DBE3EA"/>
                </a:solidFill>
                <a:latin typeface="Calibri" pitchFamily="34" charset="0"/>
                <a:ea typeface="Calibri" pitchFamily="34" charset="-122"/>
                <a:cs typeface="Calibri" pitchFamily="34" charset="-120"/>
              </a:rPr>
              <a:t>Medallion ke proprietary models ko replicate karne ka koi claim nahi</a:t>
            </a:r>
            <a:endParaRPr lang="en-US" sz="1500" dirty="0"/>
          </a:p>
          <a:p>
            <a:pPr indent="0" marL="0">
              <a:spcAft>
                <a:spcPts val="900"/>
              </a:spcAft>
              <a:buNone/>
            </a:pPr>
            <a:r>
              <a:rPr lang="en-US" sz="1500" b="1" dirty="0">
                <a:solidFill>
                  <a:srgbClr val="C8FF4D"/>
                </a:solidFill>
                <a:latin typeface="Calibri" pitchFamily="34" charset="0"/>
                <a:ea typeface="Calibri" pitchFamily="34" charset="-122"/>
                <a:cs typeface="Calibri" pitchFamily="34" charset="-120"/>
              </a:rPr>
              <a:t>→ </a:t>
            </a:r>
            <a:pPr indent="0" marL="0">
              <a:spcAft>
                <a:spcPts val="900"/>
              </a:spcAft>
              <a:buNone/>
            </a:pPr>
            <a:r>
              <a:rPr lang="en-US" sz="1500" dirty="0">
                <a:solidFill>
                  <a:srgbClr val="DBE3EA"/>
                </a:solidFill>
                <a:latin typeface="Calibri" pitchFamily="34" charset="0"/>
                <a:ea typeface="Calibri" pitchFamily="34" charset="-122"/>
                <a:cs typeface="Calibri" pitchFamily="34" charset="-120"/>
              </a:rPr>
              <a:t>Medallion ke returns "reportedly", "approximately" aur "fees se pehle" hain — jaise source guide mein</a:t>
            </a:r>
            <a:endParaRPr lang="en-US" sz="1500" dirty="0"/>
          </a:p>
          <a:p>
            <a:pPr indent="0" marL="0">
              <a:spcAft>
                <a:spcPts val="900"/>
              </a:spcAft>
              <a:buNone/>
            </a:pPr>
            <a:r>
              <a:rPr lang="en-US" sz="1500" b="1" dirty="0">
                <a:solidFill>
                  <a:srgbClr val="C8FF4D"/>
                </a:solidFill>
                <a:latin typeface="Calibri" pitchFamily="34" charset="0"/>
                <a:ea typeface="Calibri" pitchFamily="34" charset="-122"/>
                <a:cs typeface="Calibri" pitchFamily="34" charset="-120"/>
              </a:rPr>
              <a:t>→ </a:t>
            </a:r>
            <a:pPr indent="0" marL="0">
              <a:spcAft>
                <a:spcPts val="900"/>
              </a:spcAft>
              <a:buNone/>
            </a:pPr>
            <a:r>
              <a:rPr lang="en-US" sz="1500" dirty="0">
                <a:solidFill>
                  <a:srgbClr val="DBE3EA"/>
                </a:solidFill>
                <a:latin typeface="Calibri" pitchFamily="34" charset="0"/>
                <a:ea typeface="Calibri" pitchFamily="34" charset="-122"/>
                <a:cs typeface="Calibri" pitchFamily="34" charset="-120"/>
              </a:rPr>
              <a:t>Charts illustrative hain — real market ya fund data nahi</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Mathematician's Edge — Jim Simons ka Trading Approach (Hinglish)</dc:title>
  <dc:subject>PptxGenJS Presentation</dc:subject>
  <dc:creator>NOMI TRADES</dc:creator>
  <cp:lastModifiedBy>NOMI TRADES</cp:lastModifiedBy>
  <cp:revision>1</cp:revision>
  <dcterms:created xsi:type="dcterms:W3CDTF">2026-09-24T18:00:20Z</dcterms:created>
  <dcterms:modified xsi:type="dcterms:W3CDTF">2026-09-24T18:00:20Z</dcterms:modified>
</cp:coreProperties>
</file>